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Raleway SemiBold"/>
      <p:regular r:id="rId201314"/>
    </p:embeddedFont>
    <p:embeddedFont>
      <p:font typeface="Raleway Bold"/>
      <p:regular r:id="rId201315"/>
    </p:embeddedFont>
    <p:embeddedFont>
      <p:font typeface="Raleway Black"/>
      <p:regular r:id="rId201316"/>
    </p:embeddedFont>
    <p:embeddedFont>
      <p:font typeface="Raleway"/>
      <p:regular r:id="rId201317"/>
    </p:embeddedFont>
    <p:embeddedFont>
      <p:font typeface="Roboto"/>
      <p:regular r:id="rId201318"/>
    </p:embeddedFont>
    <p:embeddedFont>
      <p:font typeface="Roboto SemiBold"/>
      <p:regular r:id="rId201319"/>
    </p:embeddedFont>
    <p:embeddedFont>
      <p:font typeface="Roboto Bold"/>
      <p:regular r:id="rId201320"/>
    </p:embeddedFont>
    <p:embeddedFont>
      <p:font typeface="Roboto Black"/>
      <p:regular r:id="rId2013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sp>
      <p:sp>
        <p:nvSpPr>
          <p:cNvPr id="3" name="Shape 1"/>
          <p:cNvSpPr/>
          <p:nvPr/>
        </p:nvSpPr>
        <p:spPr>
          <a:xfrm>
            <a:off x="0" y="0"/>
            <a:ext cx="12191695" cy="68580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3.png"/><Relationship Id="rId6" Type="http://schemas.openxmlformats.org/officeDocument/2006/relationships/image" Target="../media/image-8-4.sv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400969"/>
            <a:ext cx="10868745" cy="516731"/>
          </a:xfrm>
          <a:prstGeom prst="rect">
            <a:avLst/>
          </a:prstGeom>
          <a:noFill/>
          <a:ln/>
        </p:spPr>
        <p:txBody>
          <a:bodyPr wrap="none" lIns="0" tIns="0" rIns="0" bIns="0" rtlCol="0" anchor="t"/>
          <a:lstStyle/>
          <a:p>
            <a:pPr algn="ctr" indent="0" marL="0">
              <a:lnSpc>
                <a:spcPct val="104000"/>
              </a:lnSpc>
              <a:buNone/>
            </a:pPr>
            <a:r>
              <a:rPr lang="en-US" sz="3250" dirty="0">
                <a:solidFill>
                  <a:srgbClr val="1B1B27"/>
                </a:solidFill>
                <a:latin typeface="Raleway" pitchFamily="34" charset="0"/>
                <a:ea typeface="Raleway" pitchFamily="34" charset="-122"/>
                <a:cs typeface="Raleway" pitchFamily="34" charset="-120"/>
              </a:rPr>
              <a:t>Quantium QVI Chips Category</a:t>
            </a:r>
            <a:endParaRPr lang="en-US" sz="3250" dirty="0"/>
          </a:p>
        </p:txBody>
      </p:sp>
      <p:sp>
        <p:nvSpPr>
          <p:cNvPr id="3" name="Text 1"/>
          <p:cNvSpPr/>
          <p:nvPr/>
        </p:nvSpPr>
        <p:spPr>
          <a:xfrm>
            <a:off x="661475" y="1983780"/>
            <a:ext cx="10868745" cy="413445"/>
          </a:xfrm>
          <a:prstGeom prst="rect">
            <a:avLst/>
          </a:prstGeom>
          <a:noFill/>
          <a:ln/>
        </p:spPr>
        <p:txBody>
          <a:bodyPr wrap="none" lIns="0" tIns="0" rIns="0" bIns="0" rtlCol="0" anchor="t"/>
          <a:lstStyle/>
          <a:p>
            <a:pPr algn="ctr" indent="0" marL="0">
              <a:lnSpc>
                <a:spcPct val="104000"/>
              </a:lnSpc>
              <a:buNone/>
            </a:pPr>
            <a:r>
              <a:rPr lang="en-US" sz="2600" dirty="0">
                <a:solidFill>
                  <a:srgbClr val="1B1B27"/>
                </a:solidFill>
                <a:latin typeface="Raleway" pitchFamily="34" charset="0"/>
                <a:ea typeface="Raleway" pitchFamily="34" charset="-122"/>
                <a:cs typeface="Raleway" pitchFamily="34" charset="-120"/>
              </a:rPr>
              <a:t>Retail Transaction Analysis</a:t>
            </a:r>
            <a:endParaRPr lang="en-US" sz="2600" dirty="0"/>
          </a:p>
        </p:txBody>
      </p:sp>
      <p:sp>
        <p:nvSpPr>
          <p:cNvPr id="4" name="Text 2"/>
          <p:cNvSpPr/>
          <p:nvPr/>
        </p:nvSpPr>
        <p:spPr>
          <a:xfrm>
            <a:off x="661475" y="2645271"/>
            <a:ext cx="10868745" cy="529233"/>
          </a:xfrm>
          <a:prstGeom prst="rect">
            <a:avLst/>
          </a:prstGeom>
          <a:noFill/>
          <a:ln/>
        </p:spPr>
        <p:txBody>
          <a:bodyPr wrap="square" lIns="0" tIns="0" rIns="0" bIns="0" rtlCol="0" anchor="t">
            <a:normAutofit/>
          </a:bodyPr>
          <a:lstStyle/>
          <a:p>
            <a:pPr algn="ctr" indent="0" marL="0">
              <a:lnSpc>
                <a:spcPct val="133000"/>
              </a:lnSpc>
              <a:buNone/>
            </a:pPr>
            <a:r>
              <a:rPr lang="en-US" sz="1300" dirty="0">
                <a:solidFill>
                  <a:srgbClr val="3C3939"/>
                </a:solidFill>
                <a:latin typeface="Roboto" pitchFamily="34" charset="0"/>
                <a:ea typeface="Roboto" pitchFamily="34" charset="-122"/>
                <a:cs typeface="Roboto" pitchFamily="34" charset="-120"/>
              </a:rPr>
              <a:t>A comprehensive analysis of QVI's retail transaction data covering sales performance, customer purchasing behavior, product and brand performance, store performance, and pack-size preferences across 272 stores and 114 unique products.</a:t>
            </a:r>
            <a:endParaRPr lang="en-US" sz="1300" dirty="0"/>
          </a:p>
        </p:txBody>
      </p:sp>
      <p:sp>
        <p:nvSpPr>
          <p:cNvPr id="5" name="Shape 3"/>
          <p:cNvSpPr/>
          <p:nvPr/>
        </p:nvSpPr>
        <p:spPr>
          <a:xfrm>
            <a:off x="661475" y="3360539"/>
            <a:ext cx="5351725" cy="965597"/>
          </a:xfrm>
          <a:prstGeom prst="roundRect">
            <a:avLst>
              <a:gd name="adj" fmla="val 7194"/>
            </a:avLst>
          </a:prstGeom>
          <a:solidFill>
            <a:srgbClr val="E1E1EA"/>
          </a:solidFill>
          <a:ln w="6350">
            <a:solidFill>
              <a:srgbClr val="C7C7D0"/>
            </a:solidFill>
            <a:prstDash val="solid"/>
          </a:ln>
        </p:spPr>
      </p:sp>
      <p:sp>
        <p:nvSpPr>
          <p:cNvPr id="6" name="Text 4"/>
          <p:cNvSpPr/>
          <p:nvPr/>
        </p:nvSpPr>
        <p:spPr>
          <a:xfrm>
            <a:off x="833119" y="3532188"/>
            <a:ext cx="5008437"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$1,934,415</a:t>
            </a:r>
            <a:endParaRPr lang="en-US" sz="1600" dirty="0"/>
          </a:p>
        </p:txBody>
      </p:sp>
      <p:sp>
        <p:nvSpPr>
          <p:cNvPr id="7" name="Text 5"/>
          <p:cNvSpPr/>
          <p:nvPr/>
        </p:nvSpPr>
        <p:spPr>
          <a:xfrm>
            <a:off x="833119" y="3889871"/>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Total Revenue</a:t>
            </a:r>
            <a:endParaRPr lang="en-US" sz="1300" dirty="0"/>
          </a:p>
        </p:txBody>
      </p:sp>
      <p:sp>
        <p:nvSpPr>
          <p:cNvPr id="8" name="Shape 6"/>
          <p:cNvSpPr/>
          <p:nvPr/>
        </p:nvSpPr>
        <p:spPr>
          <a:xfrm>
            <a:off x="6178495" y="3360539"/>
            <a:ext cx="5351725" cy="965597"/>
          </a:xfrm>
          <a:prstGeom prst="roundRect">
            <a:avLst>
              <a:gd name="adj" fmla="val 7194"/>
            </a:avLst>
          </a:prstGeom>
          <a:solidFill>
            <a:srgbClr val="E1E1EA"/>
          </a:solidFill>
          <a:ln w="6350">
            <a:solidFill>
              <a:srgbClr val="C7C7D0"/>
            </a:solidFill>
            <a:prstDash val="solid"/>
          </a:ln>
        </p:spPr>
      </p:sp>
      <p:sp>
        <p:nvSpPr>
          <p:cNvPr id="9" name="Text 7"/>
          <p:cNvSpPr/>
          <p:nvPr/>
        </p:nvSpPr>
        <p:spPr>
          <a:xfrm>
            <a:off x="6350139" y="3532188"/>
            <a:ext cx="5008437"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263,127</a:t>
            </a:r>
            <a:endParaRPr lang="en-US" sz="1600" dirty="0"/>
          </a:p>
        </p:txBody>
      </p:sp>
      <p:sp>
        <p:nvSpPr>
          <p:cNvPr id="10" name="Text 8"/>
          <p:cNvSpPr/>
          <p:nvPr/>
        </p:nvSpPr>
        <p:spPr>
          <a:xfrm>
            <a:off x="6350139" y="3889871"/>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Transactions</a:t>
            </a:r>
            <a:endParaRPr lang="en-US" sz="1300" dirty="0"/>
          </a:p>
        </p:txBody>
      </p:sp>
      <p:sp>
        <p:nvSpPr>
          <p:cNvPr id="11" name="Shape 9"/>
          <p:cNvSpPr/>
          <p:nvPr/>
        </p:nvSpPr>
        <p:spPr>
          <a:xfrm>
            <a:off x="661475" y="4491434"/>
            <a:ext cx="5351725" cy="965597"/>
          </a:xfrm>
          <a:prstGeom prst="roundRect">
            <a:avLst>
              <a:gd name="adj" fmla="val 7194"/>
            </a:avLst>
          </a:prstGeom>
          <a:solidFill>
            <a:srgbClr val="E1E1EA"/>
          </a:solidFill>
          <a:ln w="6350">
            <a:solidFill>
              <a:srgbClr val="C7C7D0"/>
            </a:solidFill>
            <a:prstDash val="solid"/>
          </a:ln>
        </p:spPr>
      </p:sp>
      <p:sp>
        <p:nvSpPr>
          <p:cNvPr id="12" name="Text 10"/>
          <p:cNvSpPr/>
          <p:nvPr/>
        </p:nvSpPr>
        <p:spPr>
          <a:xfrm>
            <a:off x="833119" y="4663083"/>
            <a:ext cx="5008437"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72,637</a:t>
            </a:r>
            <a:endParaRPr lang="en-US" sz="1600" dirty="0"/>
          </a:p>
        </p:txBody>
      </p:sp>
      <p:sp>
        <p:nvSpPr>
          <p:cNvPr id="13" name="Text 11"/>
          <p:cNvSpPr/>
          <p:nvPr/>
        </p:nvSpPr>
        <p:spPr>
          <a:xfrm>
            <a:off x="833119" y="5020766"/>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Unique Customers</a:t>
            </a:r>
            <a:endParaRPr lang="en-US" sz="1300" dirty="0"/>
          </a:p>
        </p:txBody>
      </p:sp>
      <p:sp>
        <p:nvSpPr>
          <p:cNvPr id="14" name="Shape 12"/>
          <p:cNvSpPr/>
          <p:nvPr/>
        </p:nvSpPr>
        <p:spPr>
          <a:xfrm>
            <a:off x="6178495" y="4491434"/>
            <a:ext cx="5351725" cy="965597"/>
          </a:xfrm>
          <a:prstGeom prst="roundRect">
            <a:avLst>
              <a:gd name="adj" fmla="val 7194"/>
            </a:avLst>
          </a:prstGeom>
          <a:solidFill>
            <a:srgbClr val="E1E1EA"/>
          </a:solidFill>
          <a:ln w="6350">
            <a:solidFill>
              <a:srgbClr val="C7C7D0"/>
            </a:solidFill>
            <a:prstDash val="solid"/>
          </a:ln>
        </p:spPr>
      </p:sp>
      <p:sp>
        <p:nvSpPr>
          <p:cNvPr id="15" name="Text 13"/>
          <p:cNvSpPr/>
          <p:nvPr/>
        </p:nvSpPr>
        <p:spPr>
          <a:xfrm>
            <a:off x="6350139" y="4663083"/>
            <a:ext cx="5008437"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272</a:t>
            </a:r>
            <a:endParaRPr lang="en-US" sz="1600" dirty="0"/>
          </a:p>
        </p:txBody>
      </p:sp>
      <p:sp>
        <p:nvSpPr>
          <p:cNvPr id="16" name="Text 14"/>
          <p:cNvSpPr/>
          <p:nvPr/>
        </p:nvSpPr>
        <p:spPr>
          <a:xfrm>
            <a:off x="6350139" y="5020766"/>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Stores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459978"/>
            <a:ext cx="10868745" cy="427930"/>
          </a:xfrm>
          <a:prstGeom prst="rect">
            <a:avLst/>
          </a:prstGeom>
          <a:noFill/>
          <a:ln/>
        </p:spPr>
        <p:txBody>
          <a:bodyPr wrap="none" lIns="0" tIns="0" rIns="0" bIns="0" rtlCol="0" anchor="t"/>
          <a:lstStyle/>
          <a:p>
            <a:pPr algn="l" indent="0" marL="0">
              <a:lnSpc>
                <a:spcPct val="104000"/>
              </a:lnSpc>
              <a:buNone/>
            </a:pPr>
            <a:r>
              <a:rPr lang="en-US" sz="2650" dirty="0">
                <a:solidFill>
                  <a:srgbClr val="1B1B27"/>
                </a:solidFill>
                <a:latin typeface="Raleway" pitchFamily="34" charset="0"/>
                <a:ea typeface="Raleway" pitchFamily="34" charset="-122"/>
                <a:cs typeface="Raleway" pitchFamily="34" charset="-120"/>
              </a:rPr>
              <a:t>Project Overview</a:t>
            </a:r>
            <a:endParaRPr lang="en-US" sz="2650" dirty="0"/>
          </a:p>
        </p:txBody>
      </p:sp>
      <p:sp>
        <p:nvSpPr>
          <p:cNvPr id="3" name="Shape 1"/>
          <p:cNvSpPr/>
          <p:nvPr/>
        </p:nvSpPr>
        <p:spPr>
          <a:xfrm>
            <a:off x="562854" y="1057970"/>
            <a:ext cx="5464534" cy="5340052"/>
          </a:xfrm>
          <a:prstGeom prst="roundRect">
            <a:avLst>
              <a:gd name="adj" fmla="val 1847"/>
            </a:avLst>
          </a:prstGeom>
          <a:solidFill>
            <a:srgbClr val="1B1B27">
              <a:alpha val="95000"/>
            </a:srgbClr>
          </a:solidFill>
          <a:ln/>
        </p:spPr>
      </p:sp>
      <p:sp>
        <p:nvSpPr>
          <p:cNvPr id="4" name="Text 2"/>
          <p:cNvSpPr/>
          <p:nvPr/>
        </p:nvSpPr>
        <p:spPr>
          <a:xfrm>
            <a:off x="699772" y="1171377"/>
            <a:ext cx="5190697" cy="214015"/>
          </a:xfrm>
          <a:prstGeom prst="rect">
            <a:avLst/>
          </a:prstGeom>
          <a:noFill/>
          <a:ln/>
        </p:spPr>
        <p:txBody>
          <a:bodyPr wrap="none" lIns="0" tIns="0" rIns="0" bIns="0" rtlCol="0" anchor="t"/>
          <a:lstStyle/>
          <a:p>
            <a:pPr algn="l" indent="0" marL="0">
              <a:lnSpc>
                <a:spcPct val="104000"/>
              </a:lnSpc>
              <a:buNone/>
            </a:pPr>
            <a:r>
              <a:rPr lang="en-US" sz="1300" dirty="0">
                <a:solidFill>
                  <a:srgbClr val="FFFFFF"/>
                </a:solidFill>
                <a:latin typeface="Raleway" pitchFamily="34" charset="0"/>
                <a:ea typeface="Raleway" pitchFamily="34" charset="-122"/>
                <a:cs typeface="Raleway" pitchFamily="34" charset="-120"/>
              </a:rPr>
              <a:t>Analytical Objectives</a:t>
            </a:r>
            <a:endParaRPr lang="en-US" sz="13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1166" y="1517253"/>
            <a:ext cx="205378" cy="205383"/>
          </a:xfrm>
          <a:prstGeom prst="rect">
            <a:avLst/>
          </a:prstGeom>
        </p:spPr>
      </p:pic>
      <p:sp>
        <p:nvSpPr>
          <p:cNvPr id="6" name="Text 3"/>
          <p:cNvSpPr/>
          <p:nvPr/>
        </p:nvSpPr>
        <p:spPr>
          <a:xfrm>
            <a:off x="1144857" y="1512987"/>
            <a:ext cx="4745613" cy="214015"/>
          </a:xfrm>
          <a:prstGeom prst="rect">
            <a:avLst/>
          </a:prstGeom>
          <a:noFill/>
          <a:ln/>
        </p:spPr>
        <p:txBody>
          <a:bodyPr wrap="none" lIns="0" tIns="0" rIns="0" bIns="0" rtlCol="0" anchor="t"/>
          <a:lstStyle/>
          <a:p>
            <a:pPr algn="l" indent="0" marL="0">
              <a:lnSpc>
                <a:spcPct val="104000"/>
              </a:lnSpc>
              <a:buNone/>
            </a:pPr>
            <a:r>
              <a:rPr lang="en-US" sz="1300" dirty="0">
                <a:solidFill>
                  <a:srgbClr val="FFFFFF"/>
                </a:solidFill>
                <a:latin typeface="Raleway" pitchFamily="34" charset="0"/>
                <a:ea typeface="Raleway" pitchFamily="34" charset="-122"/>
                <a:cs typeface="Raleway" pitchFamily="34" charset="-120"/>
              </a:rPr>
              <a:t>Sales Performance</a:t>
            </a:r>
            <a:endParaRPr lang="en-US" sz="1300" dirty="0"/>
          </a:p>
        </p:txBody>
      </p:sp>
      <p:sp>
        <p:nvSpPr>
          <p:cNvPr id="7" name="Text 4"/>
          <p:cNvSpPr/>
          <p:nvPr/>
        </p:nvSpPr>
        <p:spPr>
          <a:xfrm>
            <a:off x="1144857" y="1840409"/>
            <a:ext cx="4745613" cy="400447"/>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latin typeface="Roboto" pitchFamily="34" charset="0"/>
                <a:ea typeface="Roboto" pitchFamily="34" charset="-122"/>
                <a:cs typeface="Roboto" pitchFamily="34" charset="-120"/>
              </a:rPr>
              <a:t>Understand overall revenue trends, monthly fluctuations, and day-of-week patterns across the full analysis period.</a:t>
            </a:r>
            <a:endParaRPr lang="en-US" sz="10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1166" y="2471936"/>
            <a:ext cx="205378" cy="205383"/>
          </a:xfrm>
          <a:prstGeom prst="rect">
            <a:avLst/>
          </a:prstGeom>
        </p:spPr>
      </p:pic>
      <p:sp>
        <p:nvSpPr>
          <p:cNvPr id="9" name="Text 5"/>
          <p:cNvSpPr/>
          <p:nvPr/>
        </p:nvSpPr>
        <p:spPr>
          <a:xfrm>
            <a:off x="1144857" y="2467670"/>
            <a:ext cx="4745613" cy="214015"/>
          </a:xfrm>
          <a:prstGeom prst="rect">
            <a:avLst/>
          </a:prstGeom>
          <a:noFill/>
          <a:ln/>
        </p:spPr>
        <p:txBody>
          <a:bodyPr wrap="none" lIns="0" tIns="0" rIns="0" bIns="0" rtlCol="0" anchor="t"/>
          <a:lstStyle/>
          <a:p>
            <a:pPr algn="l" indent="0" marL="0">
              <a:lnSpc>
                <a:spcPct val="104000"/>
              </a:lnSpc>
              <a:buNone/>
            </a:pPr>
            <a:r>
              <a:rPr lang="en-US" sz="1300" dirty="0">
                <a:solidFill>
                  <a:srgbClr val="FFFFFF"/>
                </a:solidFill>
                <a:latin typeface="Raleway" pitchFamily="34" charset="0"/>
                <a:ea typeface="Raleway" pitchFamily="34" charset="-122"/>
                <a:cs typeface="Raleway" pitchFamily="34" charset="-120"/>
              </a:rPr>
              <a:t>Customer Behavior</a:t>
            </a:r>
            <a:endParaRPr lang="en-US" sz="1300" dirty="0"/>
          </a:p>
        </p:txBody>
      </p:sp>
      <p:sp>
        <p:nvSpPr>
          <p:cNvPr id="10" name="Text 6"/>
          <p:cNvSpPr/>
          <p:nvPr/>
        </p:nvSpPr>
        <p:spPr>
          <a:xfrm>
            <a:off x="1144857" y="2795091"/>
            <a:ext cx="4745613" cy="400447"/>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latin typeface="Roboto" pitchFamily="34" charset="0"/>
                <a:ea typeface="Roboto" pitchFamily="34" charset="-122"/>
                <a:cs typeface="Roboto" pitchFamily="34" charset="-120"/>
              </a:rPr>
              <a:t>Examine purchasing frequency, transaction values, and repeat-customer dynamics to identify loyalty opportunities.</a:t>
            </a:r>
            <a:endParaRPr lang="en-US" sz="10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1166" y="3426619"/>
            <a:ext cx="205378" cy="205383"/>
          </a:xfrm>
          <a:prstGeom prst="rect">
            <a:avLst/>
          </a:prstGeom>
        </p:spPr>
      </p:pic>
      <p:sp>
        <p:nvSpPr>
          <p:cNvPr id="12" name="Text 7"/>
          <p:cNvSpPr/>
          <p:nvPr/>
        </p:nvSpPr>
        <p:spPr>
          <a:xfrm>
            <a:off x="1144857" y="3422352"/>
            <a:ext cx="4745613" cy="214015"/>
          </a:xfrm>
          <a:prstGeom prst="rect">
            <a:avLst/>
          </a:prstGeom>
          <a:noFill/>
          <a:ln/>
        </p:spPr>
        <p:txBody>
          <a:bodyPr wrap="none" lIns="0" tIns="0" rIns="0" bIns="0" rtlCol="0" anchor="t"/>
          <a:lstStyle/>
          <a:p>
            <a:pPr algn="l" indent="0" marL="0">
              <a:lnSpc>
                <a:spcPct val="104000"/>
              </a:lnSpc>
              <a:buNone/>
            </a:pPr>
            <a:r>
              <a:rPr lang="en-US" sz="1300" dirty="0">
                <a:solidFill>
                  <a:srgbClr val="FFFFFF"/>
                </a:solidFill>
                <a:latin typeface="Raleway" pitchFamily="34" charset="0"/>
                <a:ea typeface="Raleway" pitchFamily="34" charset="-122"/>
                <a:cs typeface="Raleway" pitchFamily="34" charset="-120"/>
              </a:rPr>
              <a:t>Product &amp; Brand Performance</a:t>
            </a:r>
            <a:endParaRPr lang="en-US" sz="1300" dirty="0"/>
          </a:p>
        </p:txBody>
      </p:sp>
      <p:sp>
        <p:nvSpPr>
          <p:cNvPr id="13" name="Text 8"/>
          <p:cNvSpPr/>
          <p:nvPr/>
        </p:nvSpPr>
        <p:spPr>
          <a:xfrm>
            <a:off x="1144857" y="3749774"/>
            <a:ext cx="4745613" cy="400447"/>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latin typeface="Roboto" pitchFamily="34" charset="0"/>
                <a:ea typeface="Roboto" pitchFamily="34" charset="-122"/>
                <a:cs typeface="Roboto" pitchFamily="34" charset="-120"/>
              </a:rPr>
              <a:t>Identify top-performing products, brands, and pack sizes driving category revenue concentration.</a:t>
            </a:r>
            <a:endParaRPr lang="en-US" sz="10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1166" y="4381302"/>
            <a:ext cx="205378" cy="205383"/>
          </a:xfrm>
          <a:prstGeom prst="rect">
            <a:avLst/>
          </a:prstGeom>
        </p:spPr>
      </p:pic>
      <p:sp>
        <p:nvSpPr>
          <p:cNvPr id="15" name="Text 9"/>
          <p:cNvSpPr/>
          <p:nvPr/>
        </p:nvSpPr>
        <p:spPr>
          <a:xfrm>
            <a:off x="1144857" y="4377035"/>
            <a:ext cx="4745613" cy="214015"/>
          </a:xfrm>
          <a:prstGeom prst="rect">
            <a:avLst/>
          </a:prstGeom>
          <a:noFill/>
          <a:ln/>
        </p:spPr>
        <p:txBody>
          <a:bodyPr wrap="none" lIns="0" tIns="0" rIns="0" bIns="0" rtlCol="0" anchor="t"/>
          <a:lstStyle/>
          <a:p>
            <a:pPr algn="l" indent="0" marL="0">
              <a:lnSpc>
                <a:spcPct val="104000"/>
              </a:lnSpc>
              <a:buNone/>
            </a:pPr>
            <a:r>
              <a:rPr lang="en-US" sz="1300" dirty="0">
                <a:solidFill>
                  <a:srgbClr val="FFFFFF"/>
                </a:solidFill>
                <a:latin typeface="Raleway" pitchFamily="34" charset="0"/>
                <a:ea typeface="Raleway" pitchFamily="34" charset="-122"/>
                <a:cs typeface="Raleway" pitchFamily="34" charset="-120"/>
              </a:rPr>
              <a:t>Store Performance</a:t>
            </a:r>
            <a:endParaRPr lang="en-US" sz="1300" dirty="0"/>
          </a:p>
        </p:txBody>
      </p:sp>
      <p:sp>
        <p:nvSpPr>
          <p:cNvPr id="16" name="Text 10"/>
          <p:cNvSpPr/>
          <p:nvPr/>
        </p:nvSpPr>
        <p:spPr>
          <a:xfrm>
            <a:off x="1144857" y="4704457"/>
            <a:ext cx="4745613" cy="400447"/>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latin typeface="Roboto" pitchFamily="34" charset="0"/>
                <a:ea typeface="Roboto" pitchFamily="34" charset="-122"/>
                <a:cs typeface="Roboto" pitchFamily="34" charset="-120"/>
              </a:rPr>
              <a:t>Evaluate store-level revenue contribution and identify high-performing locations for strategic focus.</a:t>
            </a:r>
            <a:endParaRPr lang="en-US" sz="1050" dirty="0"/>
          </a:p>
        </p:txBody>
      </p:sp>
      <p:sp>
        <p:nvSpPr>
          <p:cNvPr id="17" name="Text 11"/>
          <p:cNvSpPr/>
          <p:nvPr/>
        </p:nvSpPr>
        <p:spPr>
          <a:xfrm>
            <a:off x="6269278" y="1171377"/>
            <a:ext cx="5267292" cy="214015"/>
          </a:xfrm>
          <a:prstGeom prst="rect">
            <a:avLst/>
          </a:prstGeom>
          <a:noFill/>
          <a:ln/>
        </p:spPr>
        <p:txBody>
          <a:bodyPr wrap="none" lIns="0" tIns="0" rIns="0" bIns="0" rtlCol="0" anchor="t"/>
          <a:lstStyle/>
          <a:p>
            <a:pPr algn="l" indent="0" marL="0">
              <a:lnSpc>
                <a:spcPct val="104000"/>
              </a:lnSpc>
              <a:buNone/>
            </a:pPr>
            <a:r>
              <a:rPr lang="en-US" sz="1300" dirty="0">
                <a:solidFill>
                  <a:srgbClr val="1B1B27"/>
                </a:solidFill>
                <a:latin typeface="Raleway" pitchFamily="34" charset="0"/>
                <a:ea typeface="Raleway" pitchFamily="34" charset="-122"/>
                <a:cs typeface="Raleway" pitchFamily="34" charset="-120"/>
              </a:rPr>
              <a:t>Tools &amp; Dataset</a:t>
            </a:r>
            <a:endParaRPr lang="en-US" sz="1300" dirty="0"/>
          </a:p>
        </p:txBody>
      </p:sp>
      <p:sp>
        <p:nvSpPr>
          <p:cNvPr id="18" name="Shape 12"/>
          <p:cNvSpPr/>
          <p:nvPr/>
        </p:nvSpPr>
        <p:spPr>
          <a:xfrm>
            <a:off x="6269278" y="1512987"/>
            <a:ext cx="2576944" cy="1240036"/>
          </a:xfrm>
          <a:prstGeom prst="roundRect">
            <a:avLst>
              <a:gd name="adj" fmla="val 4639"/>
            </a:avLst>
          </a:prstGeom>
          <a:solidFill>
            <a:srgbClr val="FFFFFF">
              <a:alpha val="95000"/>
            </a:srgbClr>
          </a:solidFill>
          <a:ln w="19050">
            <a:solidFill>
              <a:srgbClr val="C7C7D0"/>
            </a:solidFill>
            <a:prstDash val="solid"/>
          </a:ln>
        </p:spPr>
      </p:sp>
      <p:sp>
        <p:nvSpPr>
          <p:cNvPr id="19" name="Text 13"/>
          <p:cNvSpPr/>
          <p:nvPr/>
        </p:nvSpPr>
        <p:spPr>
          <a:xfrm>
            <a:off x="6425246" y="1668959"/>
            <a:ext cx="2265008" cy="214015"/>
          </a:xfrm>
          <a:prstGeom prst="rect">
            <a:avLst/>
          </a:prstGeom>
          <a:noFill/>
          <a:ln/>
        </p:spPr>
        <p:txBody>
          <a:bodyPr wrap="none" lIns="0" tIns="0" rIns="0" bIns="0" rtlCol="0" anchor="t"/>
          <a:lstStyle/>
          <a:p>
            <a:pPr algn="l" indent="0" marL="0">
              <a:lnSpc>
                <a:spcPct val="104000"/>
              </a:lnSpc>
              <a:buNone/>
            </a:pPr>
            <a:r>
              <a:rPr lang="en-US" sz="1300" dirty="0">
                <a:solidFill>
                  <a:srgbClr val="3C3939"/>
                </a:solidFill>
                <a:latin typeface="Raleway" pitchFamily="34" charset="0"/>
                <a:ea typeface="Raleway" pitchFamily="34" charset="-122"/>
                <a:cs typeface="Raleway" pitchFamily="34" charset="-120"/>
              </a:rPr>
              <a:t>Python Ecosystem</a:t>
            </a:r>
            <a:endParaRPr lang="en-US" sz="1300" dirty="0"/>
          </a:p>
        </p:txBody>
      </p:sp>
      <p:sp>
        <p:nvSpPr>
          <p:cNvPr id="20" name="Text 14"/>
          <p:cNvSpPr/>
          <p:nvPr/>
        </p:nvSpPr>
        <p:spPr>
          <a:xfrm>
            <a:off x="6425246" y="1996380"/>
            <a:ext cx="2265008" cy="600670"/>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3C3939"/>
                </a:solidFill>
                <a:latin typeface="Roboto" pitchFamily="34" charset="0"/>
                <a:ea typeface="Roboto" pitchFamily="34" charset="-122"/>
                <a:cs typeface="Roboto" pitchFamily="34" charset="-120"/>
              </a:rPr>
              <a:t>Python, Pandas, NumPy, and Matplotlib used for data processing, aggregation, and visualization.</a:t>
            </a:r>
            <a:endParaRPr lang="en-US" sz="1050" dirty="0"/>
          </a:p>
        </p:txBody>
      </p:sp>
      <p:sp>
        <p:nvSpPr>
          <p:cNvPr id="21" name="Shape 15"/>
          <p:cNvSpPr/>
          <p:nvPr/>
        </p:nvSpPr>
        <p:spPr>
          <a:xfrm>
            <a:off x="8959626" y="1512987"/>
            <a:ext cx="2576944" cy="1240036"/>
          </a:xfrm>
          <a:prstGeom prst="roundRect">
            <a:avLst>
              <a:gd name="adj" fmla="val 4639"/>
            </a:avLst>
          </a:prstGeom>
          <a:solidFill>
            <a:srgbClr val="FFFFFF">
              <a:alpha val="95000"/>
            </a:srgbClr>
          </a:solidFill>
          <a:ln w="19050">
            <a:solidFill>
              <a:srgbClr val="C7C7D0"/>
            </a:solidFill>
            <a:prstDash val="solid"/>
          </a:ln>
        </p:spPr>
      </p:sp>
      <p:sp>
        <p:nvSpPr>
          <p:cNvPr id="22" name="Text 16"/>
          <p:cNvSpPr/>
          <p:nvPr/>
        </p:nvSpPr>
        <p:spPr>
          <a:xfrm>
            <a:off x="9115594" y="1668959"/>
            <a:ext cx="2265008" cy="214015"/>
          </a:xfrm>
          <a:prstGeom prst="rect">
            <a:avLst/>
          </a:prstGeom>
          <a:noFill/>
          <a:ln/>
        </p:spPr>
        <p:txBody>
          <a:bodyPr wrap="none" lIns="0" tIns="0" rIns="0" bIns="0" rtlCol="0" anchor="t"/>
          <a:lstStyle/>
          <a:p>
            <a:pPr algn="l" indent="0" marL="0">
              <a:lnSpc>
                <a:spcPct val="104000"/>
              </a:lnSpc>
              <a:buNone/>
            </a:pPr>
            <a:r>
              <a:rPr lang="en-US" sz="1300" dirty="0">
                <a:solidFill>
                  <a:srgbClr val="3C3939"/>
                </a:solidFill>
                <a:latin typeface="Raleway" pitchFamily="34" charset="0"/>
                <a:ea typeface="Raleway" pitchFamily="34" charset="-122"/>
                <a:cs typeface="Raleway" pitchFamily="34" charset="-120"/>
              </a:rPr>
              <a:t>Data Source</a:t>
            </a:r>
            <a:endParaRPr lang="en-US" sz="1300" dirty="0"/>
          </a:p>
        </p:txBody>
      </p:sp>
      <p:sp>
        <p:nvSpPr>
          <p:cNvPr id="23" name="Text 17"/>
          <p:cNvSpPr/>
          <p:nvPr/>
        </p:nvSpPr>
        <p:spPr>
          <a:xfrm>
            <a:off x="9115594" y="1996380"/>
            <a:ext cx="2265008" cy="600670"/>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3C3939"/>
                </a:solidFill>
                <a:latin typeface="Roboto" pitchFamily="34" charset="0"/>
                <a:ea typeface="Roboto" pitchFamily="34" charset="-122"/>
                <a:cs typeface="Roboto" pitchFamily="34" charset="-120"/>
              </a:rPr>
              <a:t>Excel-based transaction data containing transaction-level records across all stores and customers.</a:t>
            </a:r>
            <a:endParaRPr lang="en-US" sz="1050" dirty="0"/>
          </a:p>
        </p:txBody>
      </p:sp>
      <p:sp>
        <p:nvSpPr>
          <p:cNvPr id="24" name="Text 18"/>
          <p:cNvSpPr/>
          <p:nvPr/>
        </p:nvSpPr>
        <p:spPr>
          <a:xfrm>
            <a:off x="6269278" y="2880618"/>
            <a:ext cx="5267292" cy="214015"/>
          </a:xfrm>
          <a:prstGeom prst="rect">
            <a:avLst/>
          </a:prstGeom>
          <a:noFill/>
          <a:ln/>
        </p:spPr>
        <p:txBody>
          <a:bodyPr wrap="none" lIns="0" tIns="0" rIns="0" bIns="0" rtlCol="0" anchor="t"/>
          <a:lstStyle/>
          <a:p>
            <a:pPr algn="l" indent="0" marL="0">
              <a:lnSpc>
                <a:spcPct val="104000"/>
              </a:lnSpc>
              <a:buNone/>
            </a:pPr>
            <a:r>
              <a:rPr lang="en-US" sz="1300" dirty="0">
                <a:solidFill>
                  <a:srgbClr val="1B1B27"/>
                </a:solidFill>
                <a:latin typeface="Raleway" pitchFamily="34" charset="0"/>
                <a:ea typeface="Raleway" pitchFamily="34" charset="-122"/>
                <a:cs typeface="Raleway" pitchFamily="34" charset="-120"/>
              </a:rPr>
              <a:t>Dataset Fields</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69278" y="3222228"/>
          <a:ext cx="9143771" cy="914400"/>
        </p:xfrm>
        <a:graphic>
          <a:graphicData uri="http://schemas.openxmlformats.org/drawingml/2006/table">
            <a:tbl>
              <a:tblPr/>
              <a:tblGrid>
                <a:gridCol w="2633646"/>
                <a:gridCol w="2633646"/>
              </a:tblGrid>
              <a:tr h="352019">
                <a:tc>
                  <a:txBody>
                    <a:bodyPr/>
                    <a:lstStyle/>
                    <a:p>
                      <a:pPr indent="0" marL="0">
                        <a:buNone/>
                      </a:pPr>
                      <a:r>
                        <a:rPr lang="en-US" sz="1050" b="1" dirty="0">
                          <a:solidFill>
                            <a:srgbClr val="3C3939"/>
                          </a:solidFill>
                          <a:latin typeface="Roboto" pitchFamily="34" charset="0"/>
                          <a:ea typeface="Roboto" pitchFamily="34" charset="-122"/>
                          <a:cs typeface="Roboto" pitchFamily="34" charset="-120"/>
                        </a:rPr>
                        <a:t>Field</a:t>
                      </a:r>
                      <a:endParaRPr lang="en-US" sz="1050" dirty="0">
                        <a:latin typeface="Roboto" charset="0"/>
                        <a:ea typeface="Roboto" charset="0"/>
                        <a:cs typeface="Roboto" charset="0"/>
                      </a:endParaRPr>
                    </a:p>
                  </a:txBody>
                  <a:tcPr marL="136965" marR="136965"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b="1" dirty="0">
                          <a:solidFill>
                            <a:srgbClr val="3C3939"/>
                          </a:solidFill>
                          <a:latin typeface="Roboto" pitchFamily="34" charset="0"/>
                          <a:ea typeface="Roboto" pitchFamily="34" charset="-122"/>
                          <a:cs typeface="Roboto" pitchFamily="34" charset="-120"/>
                        </a:rPr>
                        <a:t>Description</a:t>
                      </a:r>
                      <a:endParaRPr lang="en-US" sz="1050" dirty="0">
                        <a:latin typeface="Roboto" charset="0"/>
                        <a:ea typeface="Roboto" charset="0"/>
                        <a:cs typeface="Roboto" charset="0"/>
                      </a:endParaRPr>
                    </a:p>
                  </a:txBody>
                  <a:tcPr marL="136965" marR="136965"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55194">
                <a:tc>
                  <a:txBody>
                    <a:bodyPr/>
                    <a:lstStyle/>
                    <a:p>
                      <a:pPr indent="0" marL="0">
                        <a:buNone/>
                      </a:pPr>
                      <a:r>
                        <a:rPr lang="en-US" sz="1050" dirty="0">
                          <a:solidFill>
                            <a:srgbClr val="3C3939"/>
                          </a:solidFill>
                          <a:latin typeface="Roboto" pitchFamily="34" charset="0"/>
                          <a:ea typeface="Roboto" pitchFamily="34" charset="-122"/>
                          <a:cs typeface="Roboto" pitchFamily="34" charset="-120"/>
                        </a:rPr>
                        <a:t>Transaction ID</a:t>
                      </a:r>
                      <a:endParaRPr lang="en-US" sz="1050" dirty="0">
                        <a:latin typeface="Roboto" charset="0"/>
                        <a:ea typeface="Roboto" charset="0"/>
                        <a:cs typeface="Roboto" charset="0"/>
                      </a:endParaRPr>
                    </a:p>
                  </a:txBody>
                  <a:tcPr marL="136965" marR="136965"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dirty="0">
                          <a:solidFill>
                            <a:srgbClr val="3C3939"/>
                          </a:solidFill>
                          <a:latin typeface="Roboto" pitchFamily="34" charset="0"/>
                          <a:ea typeface="Roboto" pitchFamily="34" charset="-122"/>
                          <a:cs typeface="Roboto" pitchFamily="34" charset="-120"/>
                        </a:rPr>
                        <a:t>Unique identifier per transaction</a:t>
                      </a:r>
                      <a:endParaRPr lang="en-US" sz="1050" dirty="0">
                        <a:latin typeface="Roboto" charset="0"/>
                        <a:ea typeface="Roboto" charset="0"/>
                        <a:cs typeface="Roboto" charset="0"/>
                      </a:endParaRPr>
                    </a:p>
                  </a:txBody>
                  <a:tcPr marL="136965" marR="136965"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55194">
                <a:tc>
                  <a:txBody>
                    <a:bodyPr/>
                    <a:lstStyle/>
                    <a:p>
                      <a:pPr indent="0" marL="0">
                        <a:buNone/>
                      </a:pPr>
                      <a:r>
                        <a:rPr lang="en-US" sz="1050" dirty="0">
                          <a:solidFill>
                            <a:srgbClr val="3C3939"/>
                          </a:solidFill>
                          <a:latin typeface="Roboto" pitchFamily="34" charset="0"/>
                          <a:ea typeface="Roboto" pitchFamily="34" charset="-122"/>
                          <a:cs typeface="Roboto" pitchFamily="34" charset="-120"/>
                        </a:rPr>
                        <a:t>Customer / Loyalty Card No.</a:t>
                      </a:r>
                      <a:endParaRPr lang="en-US" sz="1050" dirty="0">
                        <a:latin typeface="Roboto" charset="0"/>
                        <a:ea typeface="Roboto" charset="0"/>
                        <a:cs typeface="Roboto" charset="0"/>
                      </a:endParaRPr>
                    </a:p>
                  </a:txBody>
                  <a:tcPr marL="136965" marR="136965"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dirty="0">
                          <a:solidFill>
                            <a:srgbClr val="3C3939"/>
                          </a:solidFill>
                          <a:latin typeface="Roboto" pitchFamily="34" charset="0"/>
                          <a:ea typeface="Roboto" pitchFamily="34" charset="-122"/>
                          <a:cs typeface="Roboto" pitchFamily="34" charset="-120"/>
                        </a:rPr>
                        <a:t>Customer identifier for loyalty tracking</a:t>
                      </a:r>
                      <a:endParaRPr lang="en-US" sz="1050" dirty="0">
                        <a:latin typeface="Roboto" charset="0"/>
                        <a:ea typeface="Roboto" charset="0"/>
                        <a:cs typeface="Roboto" charset="0"/>
                      </a:endParaRPr>
                    </a:p>
                  </a:txBody>
                  <a:tcPr marL="136965" marR="136965"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55194">
                <a:tc>
                  <a:txBody>
                    <a:bodyPr/>
                    <a:lstStyle/>
                    <a:p>
                      <a:pPr indent="0" marL="0">
                        <a:buNone/>
                      </a:pPr>
                      <a:r>
                        <a:rPr lang="en-US" sz="1050" dirty="0">
                          <a:solidFill>
                            <a:srgbClr val="3C3939"/>
                          </a:solidFill>
                          <a:latin typeface="Roboto" pitchFamily="34" charset="0"/>
                          <a:ea typeface="Roboto" pitchFamily="34" charset="-122"/>
                          <a:cs typeface="Roboto" pitchFamily="34" charset="-120"/>
                        </a:rPr>
                        <a:t>Store Number</a:t>
                      </a:r>
                      <a:endParaRPr lang="en-US" sz="1050" dirty="0">
                        <a:latin typeface="Roboto" charset="0"/>
                        <a:ea typeface="Roboto" charset="0"/>
                        <a:cs typeface="Roboto" charset="0"/>
                      </a:endParaRPr>
                    </a:p>
                  </a:txBody>
                  <a:tcPr marL="136965" marR="136965"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dirty="0">
                          <a:solidFill>
                            <a:srgbClr val="3C3939"/>
                          </a:solidFill>
                          <a:latin typeface="Roboto" pitchFamily="34" charset="0"/>
                          <a:ea typeface="Roboto" pitchFamily="34" charset="-122"/>
                          <a:cs typeface="Roboto" pitchFamily="34" charset="-120"/>
                        </a:rPr>
                        <a:t>Store location identifier</a:t>
                      </a:r>
                      <a:endParaRPr lang="en-US" sz="1050" dirty="0">
                        <a:latin typeface="Roboto" charset="0"/>
                        <a:ea typeface="Roboto" charset="0"/>
                        <a:cs typeface="Roboto" charset="0"/>
                      </a:endParaRPr>
                    </a:p>
                  </a:txBody>
                  <a:tcPr marL="136965" marR="136965"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55194">
                <a:tc>
                  <a:txBody>
                    <a:bodyPr/>
                    <a:lstStyle/>
                    <a:p>
                      <a:pPr indent="0" marL="0">
                        <a:buNone/>
                      </a:pPr>
                      <a:r>
                        <a:rPr lang="en-US" sz="1050" dirty="0">
                          <a:solidFill>
                            <a:srgbClr val="3C3939"/>
                          </a:solidFill>
                          <a:latin typeface="Roboto" pitchFamily="34" charset="0"/>
                          <a:ea typeface="Roboto" pitchFamily="34" charset="-122"/>
                          <a:cs typeface="Roboto" pitchFamily="34" charset="-120"/>
                        </a:rPr>
                        <a:t>Product Name &amp; Number</a:t>
                      </a:r>
                      <a:endParaRPr lang="en-US" sz="1050" dirty="0">
                        <a:latin typeface="Roboto" charset="0"/>
                        <a:ea typeface="Roboto" charset="0"/>
                        <a:cs typeface="Roboto" charset="0"/>
                      </a:endParaRPr>
                    </a:p>
                  </a:txBody>
                  <a:tcPr marL="136965" marR="136965"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dirty="0">
                          <a:solidFill>
                            <a:srgbClr val="3C3939"/>
                          </a:solidFill>
                          <a:latin typeface="Roboto" pitchFamily="34" charset="0"/>
                          <a:ea typeface="Roboto" pitchFamily="34" charset="-122"/>
                          <a:cs typeface="Roboto" pitchFamily="34" charset="-120"/>
                        </a:rPr>
                        <a:t>SKU-level product identification</a:t>
                      </a:r>
                      <a:endParaRPr lang="en-US" sz="1050" dirty="0">
                        <a:latin typeface="Roboto" charset="0"/>
                        <a:ea typeface="Roboto" charset="0"/>
                        <a:cs typeface="Roboto" charset="0"/>
                      </a:endParaRPr>
                    </a:p>
                  </a:txBody>
                  <a:tcPr marL="136965" marR="136965"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55194">
                <a:tc>
                  <a:txBody>
                    <a:bodyPr/>
                    <a:lstStyle/>
                    <a:p>
                      <a:pPr indent="0" marL="0">
                        <a:buNone/>
                      </a:pPr>
                      <a:r>
                        <a:rPr lang="en-US" sz="1050" dirty="0">
                          <a:solidFill>
                            <a:srgbClr val="3C3939"/>
                          </a:solidFill>
                          <a:latin typeface="Roboto" pitchFamily="34" charset="0"/>
                          <a:ea typeface="Roboto" pitchFamily="34" charset="-122"/>
                          <a:cs typeface="Roboto" pitchFamily="34" charset="-120"/>
                        </a:rPr>
                        <a:t>Product Quantity</a:t>
                      </a:r>
                      <a:endParaRPr lang="en-US" sz="1050" dirty="0">
                        <a:latin typeface="Roboto" charset="0"/>
                        <a:ea typeface="Roboto" charset="0"/>
                        <a:cs typeface="Roboto" charset="0"/>
                      </a:endParaRPr>
                    </a:p>
                  </a:txBody>
                  <a:tcPr marL="136965" marR="136965"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dirty="0">
                          <a:solidFill>
                            <a:srgbClr val="3C3939"/>
                          </a:solidFill>
                          <a:latin typeface="Roboto" pitchFamily="34" charset="0"/>
                          <a:ea typeface="Roboto" pitchFamily="34" charset="-122"/>
                          <a:cs typeface="Roboto" pitchFamily="34" charset="-120"/>
                        </a:rPr>
                        <a:t>Units purchased per line item</a:t>
                      </a:r>
                      <a:endParaRPr lang="en-US" sz="1050" dirty="0">
                        <a:latin typeface="Roboto" charset="0"/>
                        <a:ea typeface="Roboto" charset="0"/>
                        <a:cs typeface="Roboto" charset="0"/>
                      </a:endParaRPr>
                    </a:p>
                  </a:txBody>
                  <a:tcPr marL="136965" marR="136965"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55194">
                <a:tc>
                  <a:txBody>
                    <a:bodyPr/>
                    <a:lstStyle/>
                    <a:p>
                      <a:pPr indent="0" marL="0">
                        <a:buNone/>
                      </a:pPr>
                      <a:r>
                        <a:rPr lang="en-US" sz="1050" dirty="0">
                          <a:solidFill>
                            <a:srgbClr val="3C3939"/>
                          </a:solidFill>
                          <a:latin typeface="Roboto" pitchFamily="34" charset="0"/>
                          <a:ea typeface="Roboto" pitchFamily="34" charset="-122"/>
                          <a:cs typeface="Roboto" pitchFamily="34" charset="-120"/>
                        </a:rPr>
                        <a:t>Total Sales</a:t>
                      </a:r>
                      <a:endParaRPr lang="en-US" sz="1050" dirty="0">
                        <a:latin typeface="Roboto" charset="0"/>
                        <a:ea typeface="Roboto" charset="0"/>
                        <a:cs typeface="Roboto" charset="0"/>
                      </a:endParaRPr>
                    </a:p>
                  </a:txBody>
                  <a:tcPr marL="136965" marR="136965"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dirty="0">
                          <a:solidFill>
                            <a:srgbClr val="3C3939"/>
                          </a:solidFill>
                          <a:latin typeface="Roboto" pitchFamily="34" charset="0"/>
                          <a:ea typeface="Roboto" pitchFamily="34" charset="-122"/>
                          <a:cs typeface="Roboto" pitchFamily="34" charset="-120"/>
                        </a:rPr>
                        <a:t>Revenue value per transaction line</a:t>
                      </a:r>
                      <a:endParaRPr lang="en-US" sz="1050" dirty="0">
                        <a:latin typeface="Roboto" charset="0"/>
                        <a:ea typeface="Roboto" charset="0"/>
                        <a:cs typeface="Roboto" charset="0"/>
                      </a:endParaRPr>
                    </a:p>
                  </a:txBody>
                  <a:tcPr marL="136965" marR="136965"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552238">
                <a:tc>
                  <a:txBody>
                    <a:bodyPr/>
                    <a:lstStyle/>
                    <a:p>
                      <a:pPr indent="0" marL="0">
                        <a:buNone/>
                      </a:pPr>
                      <a:r>
                        <a:rPr lang="en-US" sz="1050" dirty="0">
                          <a:solidFill>
                            <a:srgbClr val="3C3939"/>
                          </a:solidFill>
                          <a:latin typeface="Roboto" pitchFamily="34" charset="0"/>
                          <a:ea typeface="Roboto" pitchFamily="34" charset="-122"/>
                          <a:cs typeface="Roboto" pitchFamily="34" charset="-120"/>
                        </a:rPr>
                        <a:t>Transaction Date</a:t>
                      </a:r>
                      <a:endParaRPr lang="en-US" sz="1050" dirty="0">
                        <a:latin typeface="Roboto" charset="0"/>
                        <a:ea typeface="Roboto" charset="0"/>
                        <a:cs typeface="Roboto" charset="0"/>
                      </a:endParaRPr>
                    </a:p>
                  </a:txBody>
                  <a:tcPr marL="136965" marR="136965"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dirty="0">
                          <a:solidFill>
                            <a:srgbClr val="3C3939"/>
                          </a:solidFill>
                          <a:latin typeface="Roboto" pitchFamily="34" charset="0"/>
                          <a:ea typeface="Roboto" pitchFamily="34" charset="-122"/>
                          <a:cs typeface="Roboto" pitchFamily="34" charset="-120"/>
                        </a:rPr>
                        <a:t>Date of purchase for time-series analysis</a:t>
                      </a:r>
                      <a:endParaRPr lang="en-US" sz="1050" dirty="0">
                        <a:latin typeface="Roboto" charset="0"/>
                        <a:ea typeface="Roboto" charset="0"/>
                        <a:cs typeface="Roboto" charset="0"/>
                      </a:endParaRPr>
                    </a:p>
                  </a:txBody>
                  <a:tcPr marL="136965" marR="136965"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71190"/>
            <a:ext cx="10868745" cy="403820"/>
          </a:xfrm>
          <a:prstGeom prst="rect">
            <a:avLst/>
          </a:prstGeom>
          <a:noFill/>
          <a:ln/>
        </p:spPr>
        <p:txBody>
          <a:bodyPr wrap="none" lIns="0" tIns="0" rIns="0" bIns="0" rtlCol="0" anchor="t"/>
          <a:lstStyle/>
          <a:p>
            <a:pPr algn="l" indent="0" marL="0">
              <a:lnSpc>
                <a:spcPct val="104000"/>
              </a:lnSpc>
              <a:buNone/>
            </a:pPr>
            <a:r>
              <a:rPr lang="en-US" sz="2500" dirty="0">
                <a:solidFill>
                  <a:srgbClr val="1B1B27"/>
                </a:solidFill>
                <a:latin typeface="Raleway" pitchFamily="34" charset="0"/>
                <a:ea typeface="Raleway" pitchFamily="34" charset="-122"/>
                <a:cs typeface="Raleway" pitchFamily="34" charset="-120"/>
              </a:rPr>
              <a:t>Overall Business Performance</a:t>
            </a:r>
            <a:endParaRPr lang="en-US" sz="2500" dirty="0"/>
          </a:p>
        </p:txBody>
      </p:sp>
      <p:sp>
        <p:nvSpPr>
          <p:cNvPr id="3" name="Text 1"/>
          <p:cNvSpPr/>
          <p:nvPr/>
        </p:nvSpPr>
        <p:spPr>
          <a:xfrm>
            <a:off x="661475" y="1076821"/>
            <a:ext cx="10868745" cy="368102"/>
          </a:xfrm>
          <a:prstGeom prst="rect">
            <a:avLst/>
          </a:prstGeom>
          <a:noFill/>
          <a:ln/>
        </p:spPr>
        <p:txBody>
          <a:bodyPr wrap="square" lIns="0" tIns="0" rIns="0" bIns="0" rtlCol="0" anchor="t">
            <a:normAutofit/>
          </a:bodyPr>
          <a:lstStyle/>
          <a:p>
            <a:pPr algn="l" indent="0" marL="0">
              <a:lnSpc>
                <a:spcPct val="119000"/>
              </a:lnSpc>
              <a:buNone/>
            </a:pPr>
            <a:r>
              <a:rPr lang="en-US" sz="1000" dirty="0">
                <a:solidFill>
                  <a:srgbClr val="3C3939"/>
                </a:solidFill>
                <a:latin typeface="Roboto" pitchFamily="34" charset="0"/>
                <a:ea typeface="Roboto" pitchFamily="34" charset="-122"/>
                <a:cs typeface="Roboto" pitchFamily="34" charset="-120"/>
              </a:rPr>
              <a:t>The QVI chips category delivered </a:t>
            </a:r>
            <a:pPr algn="l" indent="0" marL="0">
              <a:lnSpc>
                <a:spcPct val="119000"/>
              </a:lnSpc>
              <a:buNone/>
            </a:pPr>
            <a:r>
              <a:rPr lang="en-US" sz="1000" b="1" dirty="0">
                <a:solidFill>
                  <a:srgbClr val="3C3939"/>
                </a:solidFill>
                <a:latin typeface="Roboto Bold" pitchFamily="34" charset="0"/>
                <a:ea typeface="Roboto Bold" pitchFamily="34" charset="-122"/>
                <a:cs typeface="Roboto Bold" pitchFamily="34" charset="-120"/>
              </a:rPr>
              <a:t>$1,934,415 in total revenue</a:t>
            </a:r>
            <a:pPr algn="l" indent="0" marL="0">
              <a:lnSpc>
                <a:spcPct val="119000"/>
              </a:lnSpc>
              <a:buNone/>
            </a:pPr>
            <a:r>
              <a:rPr lang="en-US" sz="1000" dirty="0">
                <a:solidFill>
                  <a:srgbClr val="3C3939"/>
                </a:solidFill>
                <a:latin typeface="Roboto" pitchFamily="34" charset="0"/>
                <a:ea typeface="Roboto" pitchFamily="34" charset="-122"/>
                <a:cs typeface="Roboto" pitchFamily="34" charset="-120"/>
              </a:rPr>
              <a:t> across the analysis period, spanning 272 stores, 114 unique products, and over 72,000 customers. Key headline metrics are summarised below.</a:t>
            </a:r>
            <a:endParaRPr lang="en-US" sz="1000" dirty="0"/>
          </a:p>
        </p:txBody>
      </p:sp>
      <p:sp>
        <p:nvSpPr>
          <p:cNvPr id="4" name="Text 2"/>
          <p:cNvSpPr/>
          <p:nvPr/>
        </p:nvSpPr>
        <p:spPr>
          <a:xfrm>
            <a:off x="661475" y="1623020"/>
            <a:ext cx="5371271" cy="426442"/>
          </a:xfrm>
          <a:prstGeom prst="rect">
            <a:avLst/>
          </a:prstGeom>
          <a:noFill/>
          <a:ln/>
        </p:spPr>
        <p:txBody>
          <a:bodyPr wrap="none" lIns="0" tIns="0" rIns="0" bIns="0" rtlCol="0" anchor="t"/>
          <a:lstStyle/>
          <a:p>
            <a:pPr algn="ctr" indent="0" marL="0">
              <a:lnSpc>
                <a:spcPct val="83000"/>
              </a:lnSpc>
              <a:buNone/>
            </a:pPr>
            <a:r>
              <a:rPr lang="en-US" sz="3350" dirty="0">
                <a:solidFill>
                  <a:srgbClr val="3C3939"/>
                </a:solidFill>
                <a:latin typeface="Raleway" pitchFamily="34" charset="0"/>
                <a:ea typeface="Raleway" pitchFamily="34" charset="-122"/>
                <a:cs typeface="Raleway" pitchFamily="34" charset="-120"/>
              </a:rPr>
              <a:t>$1.93M</a:t>
            </a:r>
            <a:endParaRPr lang="en-US" sz="3350" dirty="0"/>
          </a:p>
        </p:txBody>
      </p:sp>
      <p:sp>
        <p:nvSpPr>
          <p:cNvPr id="5" name="Text 3"/>
          <p:cNvSpPr/>
          <p:nvPr/>
        </p:nvSpPr>
        <p:spPr>
          <a:xfrm>
            <a:off x="661475" y="2189758"/>
            <a:ext cx="5371271" cy="201910"/>
          </a:xfrm>
          <a:prstGeom prst="rect">
            <a:avLst/>
          </a:prstGeom>
          <a:noFill/>
          <a:ln/>
        </p:spPr>
        <p:txBody>
          <a:bodyPr wrap="none" lIns="0" tIns="0" rIns="0" bIns="0" rtlCol="0" anchor="t"/>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Total Revenue</a:t>
            </a:r>
            <a:endParaRPr lang="en-US" sz="1250" dirty="0"/>
          </a:p>
        </p:txBody>
      </p:sp>
      <p:sp>
        <p:nvSpPr>
          <p:cNvPr id="6" name="Text 4"/>
          <p:cNvSpPr/>
          <p:nvPr/>
        </p:nvSpPr>
        <p:spPr>
          <a:xfrm>
            <a:off x="661475" y="2452191"/>
            <a:ext cx="5371271" cy="184051"/>
          </a:xfrm>
          <a:prstGeom prst="rect">
            <a:avLst/>
          </a:prstGeom>
          <a:noFill/>
          <a:ln/>
        </p:spPr>
        <p:txBody>
          <a:bodyPr wrap="none" lIns="0" tIns="0" rIns="0" bIns="0" rtlCol="0" anchor="t"/>
          <a:lstStyle/>
          <a:p>
            <a:pPr algn="ctr" indent="0" marL="0">
              <a:lnSpc>
                <a:spcPct val="119000"/>
              </a:lnSpc>
              <a:buNone/>
            </a:pPr>
            <a:r>
              <a:rPr lang="en-US" sz="1000" dirty="0">
                <a:solidFill>
                  <a:srgbClr val="3C3939"/>
                </a:solidFill>
                <a:latin typeface="Roboto" pitchFamily="34" charset="0"/>
                <a:ea typeface="Roboto" pitchFamily="34" charset="-122"/>
                <a:cs typeface="Roboto" pitchFamily="34" charset="-120"/>
              </a:rPr>
              <a:t>Across all stores and products in the analysis period</a:t>
            </a:r>
            <a:endParaRPr lang="en-US" sz="1000" dirty="0"/>
          </a:p>
        </p:txBody>
      </p:sp>
      <p:sp>
        <p:nvSpPr>
          <p:cNvPr id="7" name="Text 5"/>
          <p:cNvSpPr/>
          <p:nvPr/>
        </p:nvSpPr>
        <p:spPr>
          <a:xfrm>
            <a:off x="6158850" y="1623020"/>
            <a:ext cx="5371370" cy="426442"/>
          </a:xfrm>
          <a:prstGeom prst="rect">
            <a:avLst/>
          </a:prstGeom>
          <a:noFill/>
          <a:ln/>
        </p:spPr>
        <p:txBody>
          <a:bodyPr wrap="none" lIns="0" tIns="0" rIns="0" bIns="0" rtlCol="0" anchor="t"/>
          <a:lstStyle/>
          <a:p>
            <a:pPr algn="ctr" indent="0" marL="0">
              <a:lnSpc>
                <a:spcPct val="83000"/>
              </a:lnSpc>
              <a:buNone/>
            </a:pPr>
            <a:r>
              <a:rPr lang="en-US" sz="3350" dirty="0">
                <a:solidFill>
                  <a:srgbClr val="3C3939"/>
                </a:solidFill>
                <a:latin typeface="Raleway" pitchFamily="34" charset="0"/>
                <a:ea typeface="Raleway" pitchFamily="34" charset="-122"/>
                <a:cs typeface="Raleway" pitchFamily="34" charset="-120"/>
              </a:rPr>
              <a:t>505K</a:t>
            </a:r>
            <a:endParaRPr lang="en-US" sz="3350" dirty="0"/>
          </a:p>
        </p:txBody>
      </p:sp>
      <p:sp>
        <p:nvSpPr>
          <p:cNvPr id="8" name="Text 6"/>
          <p:cNvSpPr/>
          <p:nvPr/>
        </p:nvSpPr>
        <p:spPr>
          <a:xfrm>
            <a:off x="6158850" y="2189758"/>
            <a:ext cx="5371370" cy="201910"/>
          </a:xfrm>
          <a:prstGeom prst="rect">
            <a:avLst/>
          </a:prstGeom>
          <a:noFill/>
          <a:ln/>
        </p:spPr>
        <p:txBody>
          <a:bodyPr wrap="none" lIns="0" tIns="0" rIns="0" bIns="0" rtlCol="0" anchor="t"/>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Units Sold</a:t>
            </a:r>
            <a:endParaRPr lang="en-US" sz="1250" dirty="0"/>
          </a:p>
        </p:txBody>
      </p:sp>
      <p:sp>
        <p:nvSpPr>
          <p:cNvPr id="9" name="Text 7"/>
          <p:cNvSpPr/>
          <p:nvPr/>
        </p:nvSpPr>
        <p:spPr>
          <a:xfrm>
            <a:off x="6158850" y="2452191"/>
            <a:ext cx="5371370" cy="184051"/>
          </a:xfrm>
          <a:prstGeom prst="rect">
            <a:avLst/>
          </a:prstGeom>
          <a:noFill/>
          <a:ln/>
        </p:spPr>
        <p:txBody>
          <a:bodyPr wrap="none" lIns="0" tIns="0" rIns="0" bIns="0" rtlCol="0" anchor="t"/>
          <a:lstStyle/>
          <a:p>
            <a:pPr algn="ctr" indent="0" marL="0">
              <a:lnSpc>
                <a:spcPct val="119000"/>
              </a:lnSpc>
              <a:buNone/>
            </a:pPr>
            <a:r>
              <a:rPr lang="en-US" sz="1000" dirty="0">
                <a:solidFill>
                  <a:srgbClr val="3C3939"/>
                </a:solidFill>
                <a:latin typeface="Roboto" pitchFamily="34" charset="0"/>
                <a:ea typeface="Roboto" pitchFamily="34" charset="-122"/>
                <a:cs typeface="Roboto" pitchFamily="34" charset="-120"/>
              </a:rPr>
              <a:t>Total product units transacted across the network</a:t>
            </a:r>
            <a:endParaRPr lang="en-US" sz="1000" dirty="0"/>
          </a:p>
        </p:txBody>
      </p:sp>
      <p:sp>
        <p:nvSpPr>
          <p:cNvPr id="10" name="Text 8"/>
          <p:cNvSpPr/>
          <p:nvPr/>
        </p:nvSpPr>
        <p:spPr>
          <a:xfrm>
            <a:off x="661475" y="2902645"/>
            <a:ext cx="5371271" cy="426442"/>
          </a:xfrm>
          <a:prstGeom prst="rect">
            <a:avLst/>
          </a:prstGeom>
          <a:noFill/>
          <a:ln/>
        </p:spPr>
        <p:txBody>
          <a:bodyPr wrap="none" lIns="0" tIns="0" rIns="0" bIns="0" rtlCol="0" anchor="t"/>
          <a:lstStyle/>
          <a:p>
            <a:pPr algn="ctr" indent="0" marL="0">
              <a:lnSpc>
                <a:spcPct val="83000"/>
              </a:lnSpc>
              <a:buNone/>
            </a:pPr>
            <a:r>
              <a:rPr lang="en-US" sz="3350" dirty="0">
                <a:solidFill>
                  <a:srgbClr val="3C3939"/>
                </a:solidFill>
                <a:latin typeface="Raleway" pitchFamily="34" charset="0"/>
                <a:ea typeface="Raleway" pitchFamily="34" charset="-122"/>
                <a:cs typeface="Raleway" pitchFamily="34" charset="-120"/>
              </a:rPr>
              <a:t>263K</a:t>
            </a:r>
            <a:endParaRPr lang="en-US" sz="3350" dirty="0"/>
          </a:p>
        </p:txBody>
      </p:sp>
      <p:sp>
        <p:nvSpPr>
          <p:cNvPr id="11" name="Text 9"/>
          <p:cNvSpPr/>
          <p:nvPr/>
        </p:nvSpPr>
        <p:spPr>
          <a:xfrm>
            <a:off x="661475" y="3469382"/>
            <a:ext cx="5371271" cy="201910"/>
          </a:xfrm>
          <a:prstGeom prst="rect">
            <a:avLst/>
          </a:prstGeom>
          <a:noFill/>
          <a:ln/>
        </p:spPr>
        <p:txBody>
          <a:bodyPr wrap="none" lIns="0" tIns="0" rIns="0" bIns="0" rtlCol="0" anchor="t"/>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Transactions</a:t>
            </a:r>
            <a:endParaRPr lang="en-US" sz="1250" dirty="0"/>
          </a:p>
        </p:txBody>
      </p:sp>
      <p:sp>
        <p:nvSpPr>
          <p:cNvPr id="12" name="Text 10"/>
          <p:cNvSpPr/>
          <p:nvPr/>
        </p:nvSpPr>
        <p:spPr>
          <a:xfrm>
            <a:off x="661475" y="3731816"/>
            <a:ext cx="5371271" cy="184051"/>
          </a:xfrm>
          <a:prstGeom prst="rect">
            <a:avLst/>
          </a:prstGeom>
          <a:noFill/>
          <a:ln/>
        </p:spPr>
        <p:txBody>
          <a:bodyPr wrap="none" lIns="0" tIns="0" rIns="0" bIns="0" rtlCol="0" anchor="t"/>
          <a:lstStyle/>
          <a:p>
            <a:pPr algn="ctr" indent="0" marL="0">
              <a:lnSpc>
                <a:spcPct val="119000"/>
              </a:lnSpc>
              <a:buNone/>
            </a:pPr>
            <a:r>
              <a:rPr lang="en-US" sz="1000" dirty="0">
                <a:solidFill>
                  <a:srgbClr val="3C3939"/>
                </a:solidFill>
                <a:latin typeface="Roboto" pitchFamily="34" charset="0"/>
                <a:ea typeface="Roboto" pitchFamily="34" charset="-122"/>
                <a:cs typeface="Roboto" pitchFamily="34" charset="-120"/>
              </a:rPr>
              <a:t>Total number of individual purchase transactions</a:t>
            </a:r>
            <a:endParaRPr lang="en-US" sz="1000" dirty="0"/>
          </a:p>
        </p:txBody>
      </p:sp>
      <p:sp>
        <p:nvSpPr>
          <p:cNvPr id="13" name="Text 11"/>
          <p:cNvSpPr/>
          <p:nvPr/>
        </p:nvSpPr>
        <p:spPr>
          <a:xfrm>
            <a:off x="6158850" y="2902645"/>
            <a:ext cx="5371370" cy="426442"/>
          </a:xfrm>
          <a:prstGeom prst="rect">
            <a:avLst/>
          </a:prstGeom>
          <a:noFill/>
          <a:ln/>
        </p:spPr>
        <p:txBody>
          <a:bodyPr wrap="none" lIns="0" tIns="0" rIns="0" bIns="0" rtlCol="0" anchor="t"/>
          <a:lstStyle/>
          <a:p>
            <a:pPr algn="ctr" indent="0" marL="0">
              <a:lnSpc>
                <a:spcPct val="83000"/>
              </a:lnSpc>
              <a:buNone/>
            </a:pPr>
            <a:r>
              <a:rPr lang="en-US" sz="3350" dirty="0">
                <a:solidFill>
                  <a:srgbClr val="3C3939"/>
                </a:solidFill>
                <a:latin typeface="Raleway" pitchFamily="34" charset="0"/>
                <a:ea typeface="Raleway" pitchFamily="34" charset="-122"/>
                <a:cs typeface="Raleway" pitchFamily="34" charset="-120"/>
              </a:rPr>
              <a:t>72.6K</a:t>
            </a:r>
            <a:endParaRPr lang="en-US" sz="3350" dirty="0"/>
          </a:p>
        </p:txBody>
      </p:sp>
      <p:sp>
        <p:nvSpPr>
          <p:cNvPr id="14" name="Text 12"/>
          <p:cNvSpPr/>
          <p:nvPr/>
        </p:nvSpPr>
        <p:spPr>
          <a:xfrm>
            <a:off x="6158850" y="3469382"/>
            <a:ext cx="5371370" cy="201910"/>
          </a:xfrm>
          <a:prstGeom prst="rect">
            <a:avLst/>
          </a:prstGeom>
          <a:noFill/>
          <a:ln/>
        </p:spPr>
        <p:txBody>
          <a:bodyPr wrap="none" lIns="0" tIns="0" rIns="0" bIns="0" rtlCol="0" anchor="t"/>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Unique Customers</a:t>
            </a:r>
            <a:endParaRPr lang="en-US" sz="1250" dirty="0"/>
          </a:p>
        </p:txBody>
      </p:sp>
      <p:sp>
        <p:nvSpPr>
          <p:cNvPr id="15" name="Text 13"/>
          <p:cNvSpPr/>
          <p:nvPr/>
        </p:nvSpPr>
        <p:spPr>
          <a:xfrm>
            <a:off x="6158850" y="3731816"/>
            <a:ext cx="5371370" cy="184051"/>
          </a:xfrm>
          <a:prstGeom prst="rect">
            <a:avLst/>
          </a:prstGeom>
          <a:noFill/>
          <a:ln/>
        </p:spPr>
        <p:txBody>
          <a:bodyPr wrap="none" lIns="0" tIns="0" rIns="0" bIns="0" rtlCol="0" anchor="t"/>
          <a:lstStyle/>
          <a:p>
            <a:pPr algn="ctr" indent="0" marL="0">
              <a:lnSpc>
                <a:spcPct val="119000"/>
              </a:lnSpc>
              <a:buNone/>
            </a:pPr>
            <a:r>
              <a:rPr lang="en-US" sz="1000" dirty="0">
                <a:solidFill>
                  <a:srgbClr val="3C3939"/>
                </a:solidFill>
                <a:latin typeface="Roboto" pitchFamily="34" charset="0"/>
                <a:ea typeface="Roboto" pitchFamily="34" charset="-122"/>
                <a:cs typeface="Roboto" pitchFamily="34" charset="-120"/>
              </a:rPr>
              <a:t>Distinct loyalty card holders active in the period</a:t>
            </a:r>
            <a:endParaRPr lang="en-US" sz="1000" dirty="0"/>
          </a:p>
        </p:txBody>
      </p:sp>
      <p:sp>
        <p:nvSpPr>
          <p:cNvPr id="16" name="Text 14"/>
          <p:cNvSpPr/>
          <p:nvPr/>
        </p:nvSpPr>
        <p:spPr>
          <a:xfrm>
            <a:off x="661475" y="4093964"/>
            <a:ext cx="5371271" cy="426442"/>
          </a:xfrm>
          <a:prstGeom prst="rect">
            <a:avLst/>
          </a:prstGeom>
          <a:noFill/>
          <a:ln/>
        </p:spPr>
        <p:txBody>
          <a:bodyPr wrap="none" lIns="0" tIns="0" rIns="0" bIns="0" rtlCol="0" anchor="t"/>
          <a:lstStyle/>
          <a:p>
            <a:pPr algn="ctr" indent="0" marL="0">
              <a:lnSpc>
                <a:spcPct val="83000"/>
              </a:lnSpc>
              <a:buNone/>
            </a:pPr>
            <a:r>
              <a:rPr lang="en-US" sz="3350" dirty="0">
                <a:solidFill>
                  <a:srgbClr val="3C3939"/>
                </a:solidFill>
                <a:latin typeface="Raleway" pitchFamily="34" charset="0"/>
                <a:ea typeface="Raleway" pitchFamily="34" charset="-122"/>
                <a:cs typeface="Raleway" pitchFamily="34" charset="-120"/>
              </a:rPr>
              <a:t>114</a:t>
            </a:r>
            <a:endParaRPr lang="en-US" sz="3350" dirty="0"/>
          </a:p>
        </p:txBody>
      </p:sp>
      <p:sp>
        <p:nvSpPr>
          <p:cNvPr id="17" name="Text 15"/>
          <p:cNvSpPr/>
          <p:nvPr/>
        </p:nvSpPr>
        <p:spPr>
          <a:xfrm>
            <a:off x="661475" y="4660702"/>
            <a:ext cx="5371271" cy="201910"/>
          </a:xfrm>
          <a:prstGeom prst="rect">
            <a:avLst/>
          </a:prstGeom>
          <a:noFill/>
          <a:ln/>
        </p:spPr>
        <p:txBody>
          <a:bodyPr wrap="none" lIns="0" tIns="0" rIns="0" bIns="0" rtlCol="0" anchor="t"/>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Unique Products</a:t>
            </a:r>
            <a:endParaRPr lang="en-US" sz="1250" dirty="0"/>
          </a:p>
        </p:txBody>
      </p:sp>
      <p:sp>
        <p:nvSpPr>
          <p:cNvPr id="18" name="Text 16"/>
          <p:cNvSpPr/>
          <p:nvPr/>
        </p:nvSpPr>
        <p:spPr>
          <a:xfrm>
            <a:off x="661475" y="4923135"/>
            <a:ext cx="5371271" cy="184051"/>
          </a:xfrm>
          <a:prstGeom prst="rect">
            <a:avLst/>
          </a:prstGeom>
          <a:noFill/>
          <a:ln/>
        </p:spPr>
        <p:txBody>
          <a:bodyPr wrap="none" lIns="0" tIns="0" rIns="0" bIns="0" rtlCol="0" anchor="t"/>
          <a:lstStyle/>
          <a:p>
            <a:pPr algn="ctr" indent="0" marL="0">
              <a:lnSpc>
                <a:spcPct val="119000"/>
              </a:lnSpc>
              <a:buNone/>
            </a:pPr>
            <a:r>
              <a:rPr lang="en-US" sz="1000" dirty="0">
                <a:solidFill>
                  <a:srgbClr val="3C3939"/>
                </a:solidFill>
                <a:latin typeface="Roboto" pitchFamily="34" charset="0"/>
                <a:ea typeface="Roboto" pitchFamily="34" charset="-122"/>
                <a:cs typeface="Roboto" pitchFamily="34" charset="-120"/>
              </a:rPr>
              <a:t>SKUs active across the chips category</a:t>
            </a:r>
            <a:endParaRPr lang="en-US" sz="1000" dirty="0"/>
          </a:p>
        </p:txBody>
      </p:sp>
      <p:sp>
        <p:nvSpPr>
          <p:cNvPr id="19" name="Text 17"/>
          <p:cNvSpPr/>
          <p:nvPr/>
        </p:nvSpPr>
        <p:spPr>
          <a:xfrm>
            <a:off x="6158850" y="4093964"/>
            <a:ext cx="5371370" cy="426442"/>
          </a:xfrm>
          <a:prstGeom prst="rect">
            <a:avLst/>
          </a:prstGeom>
          <a:noFill/>
          <a:ln/>
        </p:spPr>
        <p:txBody>
          <a:bodyPr wrap="none" lIns="0" tIns="0" rIns="0" bIns="0" rtlCol="0" anchor="t"/>
          <a:lstStyle/>
          <a:p>
            <a:pPr algn="ctr" indent="0" marL="0">
              <a:lnSpc>
                <a:spcPct val="83000"/>
              </a:lnSpc>
              <a:buNone/>
            </a:pPr>
            <a:r>
              <a:rPr lang="en-US" sz="3350" dirty="0">
                <a:solidFill>
                  <a:srgbClr val="3C3939"/>
                </a:solidFill>
                <a:latin typeface="Raleway" pitchFamily="34" charset="0"/>
                <a:ea typeface="Raleway" pitchFamily="34" charset="-122"/>
                <a:cs typeface="Raleway" pitchFamily="34" charset="-120"/>
              </a:rPr>
              <a:t>272</a:t>
            </a:r>
            <a:endParaRPr lang="en-US" sz="3350" dirty="0"/>
          </a:p>
        </p:txBody>
      </p:sp>
      <p:sp>
        <p:nvSpPr>
          <p:cNvPr id="20" name="Text 18"/>
          <p:cNvSpPr/>
          <p:nvPr/>
        </p:nvSpPr>
        <p:spPr>
          <a:xfrm>
            <a:off x="6158850" y="4660702"/>
            <a:ext cx="5371370" cy="201910"/>
          </a:xfrm>
          <a:prstGeom prst="rect">
            <a:avLst/>
          </a:prstGeom>
          <a:noFill/>
          <a:ln/>
        </p:spPr>
        <p:txBody>
          <a:bodyPr wrap="none" lIns="0" tIns="0" rIns="0" bIns="0" rtlCol="0" anchor="t"/>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Stores</a:t>
            </a:r>
            <a:endParaRPr lang="en-US" sz="1250" dirty="0"/>
          </a:p>
        </p:txBody>
      </p:sp>
      <p:sp>
        <p:nvSpPr>
          <p:cNvPr id="21" name="Text 19"/>
          <p:cNvSpPr/>
          <p:nvPr/>
        </p:nvSpPr>
        <p:spPr>
          <a:xfrm>
            <a:off x="6158850" y="4923135"/>
            <a:ext cx="5371370" cy="184051"/>
          </a:xfrm>
          <a:prstGeom prst="rect">
            <a:avLst/>
          </a:prstGeom>
          <a:noFill/>
          <a:ln/>
        </p:spPr>
        <p:txBody>
          <a:bodyPr wrap="none" lIns="0" tIns="0" rIns="0" bIns="0" rtlCol="0" anchor="t"/>
          <a:lstStyle/>
          <a:p>
            <a:pPr algn="ctr" indent="0" marL="0">
              <a:lnSpc>
                <a:spcPct val="119000"/>
              </a:lnSpc>
              <a:buNone/>
            </a:pPr>
            <a:r>
              <a:rPr lang="en-US" sz="1000" dirty="0">
                <a:solidFill>
                  <a:srgbClr val="3C3939"/>
                </a:solidFill>
                <a:latin typeface="Roboto" pitchFamily="34" charset="0"/>
                <a:ea typeface="Roboto" pitchFamily="34" charset="-122"/>
                <a:cs typeface="Roboto" pitchFamily="34" charset="-120"/>
              </a:rPr>
              <a:t>Retail locations included in the analysis</a:t>
            </a:r>
            <a:endParaRPr lang="en-US" sz="1000" dirty="0"/>
          </a:p>
        </p:txBody>
      </p:sp>
      <p:sp>
        <p:nvSpPr>
          <p:cNvPr id="22" name="Text 20"/>
          <p:cNvSpPr/>
          <p:nvPr/>
        </p:nvSpPr>
        <p:spPr>
          <a:xfrm>
            <a:off x="661475" y="5373588"/>
            <a:ext cx="5371271" cy="426442"/>
          </a:xfrm>
          <a:prstGeom prst="rect">
            <a:avLst/>
          </a:prstGeom>
          <a:noFill/>
          <a:ln/>
        </p:spPr>
        <p:txBody>
          <a:bodyPr wrap="none" lIns="0" tIns="0" rIns="0" bIns="0" rtlCol="0" anchor="t"/>
          <a:lstStyle/>
          <a:p>
            <a:pPr algn="ctr" indent="0" marL="0">
              <a:lnSpc>
                <a:spcPct val="83000"/>
              </a:lnSpc>
              <a:buNone/>
            </a:pPr>
            <a:r>
              <a:rPr lang="en-US" sz="3350" dirty="0">
                <a:solidFill>
                  <a:srgbClr val="3C3939"/>
                </a:solidFill>
                <a:latin typeface="Raleway" pitchFamily="34" charset="0"/>
                <a:ea typeface="Raleway" pitchFamily="34" charset="-122"/>
                <a:cs typeface="Raleway" pitchFamily="34" charset="-120"/>
              </a:rPr>
              <a:t>$7.35</a:t>
            </a:r>
            <a:endParaRPr lang="en-US" sz="3350" dirty="0"/>
          </a:p>
        </p:txBody>
      </p:sp>
      <p:sp>
        <p:nvSpPr>
          <p:cNvPr id="23" name="Text 21"/>
          <p:cNvSpPr/>
          <p:nvPr/>
        </p:nvSpPr>
        <p:spPr>
          <a:xfrm>
            <a:off x="661475" y="5940326"/>
            <a:ext cx="5371271" cy="201910"/>
          </a:xfrm>
          <a:prstGeom prst="rect">
            <a:avLst/>
          </a:prstGeom>
          <a:noFill/>
          <a:ln/>
        </p:spPr>
        <p:txBody>
          <a:bodyPr wrap="none" lIns="0" tIns="0" rIns="0" bIns="0" rtlCol="0" anchor="t"/>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Avg. Transaction Value</a:t>
            </a:r>
            <a:endParaRPr lang="en-US" sz="1250" dirty="0"/>
          </a:p>
        </p:txBody>
      </p:sp>
      <p:sp>
        <p:nvSpPr>
          <p:cNvPr id="24" name="Text 22"/>
          <p:cNvSpPr/>
          <p:nvPr/>
        </p:nvSpPr>
        <p:spPr>
          <a:xfrm>
            <a:off x="661475" y="6202759"/>
            <a:ext cx="5371271" cy="184051"/>
          </a:xfrm>
          <a:prstGeom prst="rect">
            <a:avLst/>
          </a:prstGeom>
          <a:noFill/>
          <a:ln/>
        </p:spPr>
        <p:txBody>
          <a:bodyPr wrap="none" lIns="0" tIns="0" rIns="0" bIns="0" rtlCol="0" anchor="t"/>
          <a:lstStyle/>
          <a:p>
            <a:pPr algn="ctr" indent="0" marL="0">
              <a:lnSpc>
                <a:spcPct val="119000"/>
              </a:lnSpc>
              <a:buNone/>
            </a:pPr>
            <a:r>
              <a:rPr lang="en-US" sz="1000" dirty="0">
                <a:solidFill>
                  <a:srgbClr val="3C3939"/>
                </a:solidFill>
                <a:latin typeface="Roboto" pitchFamily="34" charset="0"/>
                <a:ea typeface="Roboto" pitchFamily="34" charset="-122"/>
                <a:cs typeface="Roboto" pitchFamily="34" charset="-120"/>
              </a:rPr>
              <a:t>Mean spend per transaction across all customers</a:t>
            </a:r>
            <a:endParaRPr lang="en-US" sz="1000" dirty="0"/>
          </a:p>
        </p:txBody>
      </p:sp>
      <p:sp>
        <p:nvSpPr>
          <p:cNvPr id="25" name="Text 23"/>
          <p:cNvSpPr/>
          <p:nvPr/>
        </p:nvSpPr>
        <p:spPr>
          <a:xfrm>
            <a:off x="6158850" y="5373588"/>
            <a:ext cx="5371370" cy="426442"/>
          </a:xfrm>
          <a:prstGeom prst="rect">
            <a:avLst/>
          </a:prstGeom>
          <a:noFill/>
          <a:ln/>
        </p:spPr>
        <p:txBody>
          <a:bodyPr wrap="none" lIns="0" tIns="0" rIns="0" bIns="0" rtlCol="0" anchor="t"/>
          <a:lstStyle/>
          <a:p>
            <a:pPr algn="ctr" indent="0" marL="0">
              <a:lnSpc>
                <a:spcPct val="83000"/>
              </a:lnSpc>
              <a:buNone/>
            </a:pPr>
            <a:r>
              <a:rPr lang="en-US" sz="3350" dirty="0">
                <a:solidFill>
                  <a:srgbClr val="3C3939"/>
                </a:solidFill>
                <a:latin typeface="Raleway" pitchFamily="34" charset="0"/>
                <a:ea typeface="Raleway" pitchFamily="34" charset="-122"/>
                <a:cs typeface="Raleway" pitchFamily="34" charset="-120"/>
              </a:rPr>
              <a:t>1.92</a:t>
            </a:r>
            <a:endParaRPr lang="en-US" sz="3350" dirty="0"/>
          </a:p>
        </p:txBody>
      </p:sp>
      <p:sp>
        <p:nvSpPr>
          <p:cNvPr id="26" name="Text 24"/>
          <p:cNvSpPr/>
          <p:nvPr/>
        </p:nvSpPr>
        <p:spPr>
          <a:xfrm>
            <a:off x="6158850" y="5940326"/>
            <a:ext cx="5371370" cy="201910"/>
          </a:xfrm>
          <a:prstGeom prst="rect">
            <a:avLst/>
          </a:prstGeom>
          <a:noFill/>
          <a:ln/>
        </p:spPr>
        <p:txBody>
          <a:bodyPr wrap="none" lIns="0" tIns="0" rIns="0" bIns="0" rtlCol="0" anchor="t"/>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Avg. Units / Transaction</a:t>
            </a:r>
            <a:endParaRPr lang="en-US" sz="1250" dirty="0"/>
          </a:p>
        </p:txBody>
      </p:sp>
      <p:sp>
        <p:nvSpPr>
          <p:cNvPr id="27" name="Text 25"/>
          <p:cNvSpPr/>
          <p:nvPr/>
        </p:nvSpPr>
        <p:spPr>
          <a:xfrm>
            <a:off x="6158850" y="6202759"/>
            <a:ext cx="5371370" cy="184051"/>
          </a:xfrm>
          <a:prstGeom prst="rect">
            <a:avLst/>
          </a:prstGeom>
          <a:noFill/>
          <a:ln/>
        </p:spPr>
        <p:txBody>
          <a:bodyPr wrap="none" lIns="0" tIns="0" rIns="0" bIns="0" rtlCol="0" anchor="t"/>
          <a:lstStyle/>
          <a:p>
            <a:pPr algn="ctr" indent="0" marL="0">
              <a:lnSpc>
                <a:spcPct val="119000"/>
              </a:lnSpc>
              <a:buNone/>
            </a:pPr>
            <a:r>
              <a:rPr lang="en-US" sz="1000" dirty="0">
                <a:solidFill>
                  <a:srgbClr val="3C3939"/>
                </a:solidFill>
                <a:latin typeface="Roboto" pitchFamily="34" charset="0"/>
                <a:ea typeface="Roboto" pitchFamily="34" charset="-122"/>
                <a:cs typeface="Roboto" pitchFamily="34" charset="-120"/>
              </a:rPr>
              <a:t>Average number of units purchased per visit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21692"/>
            <a:ext cx="10868745" cy="339130"/>
          </a:xfrm>
          <a:prstGeom prst="rect">
            <a:avLst/>
          </a:prstGeom>
          <a:noFill/>
          <a:ln/>
        </p:spPr>
        <p:txBody>
          <a:bodyPr wrap="none" lIns="0" tIns="0" rIns="0" bIns="0" rtlCol="0" anchor="t"/>
          <a:lstStyle/>
          <a:p>
            <a:pPr algn="l" indent="0" marL="0">
              <a:lnSpc>
                <a:spcPct val="104000"/>
              </a:lnSpc>
              <a:buNone/>
            </a:pPr>
            <a:r>
              <a:rPr lang="en-US" sz="2100" dirty="0">
                <a:solidFill>
                  <a:srgbClr val="1B1B27"/>
                </a:solidFill>
                <a:latin typeface="Raleway" pitchFamily="34" charset="0"/>
                <a:ea typeface="Raleway" pitchFamily="34" charset="-122"/>
                <a:cs typeface="Raleway" pitchFamily="34" charset="-120"/>
              </a:rPr>
              <a:t>Customer Purchasing Behavior</a:t>
            </a:r>
            <a:endParaRPr lang="en-US" sz="2100" dirty="0"/>
          </a:p>
        </p:txBody>
      </p:sp>
      <p:sp>
        <p:nvSpPr>
          <p:cNvPr id="3" name="Shape 1"/>
          <p:cNvSpPr/>
          <p:nvPr/>
        </p:nvSpPr>
        <p:spPr>
          <a:xfrm>
            <a:off x="583292" y="967581"/>
            <a:ext cx="4901680" cy="5368627"/>
          </a:xfrm>
          <a:prstGeom prst="roundRect">
            <a:avLst>
              <a:gd name="adj" fmla="val 1594"/>
            </a:avLst>
          </a:prstGeom>
          <a:solidFill>
            <a:srgbClr val="1B1B27">
              <a:alpha val="95000"/>
            </a:srgbClr>
          </a:solidFill>
          <a:ln/>
        </p:spPr>
      </p:sp>
      <p:sp>
        <p:nvSpPr>
          <p:cNvPr id="4" name="Text 2"/>
          <p:cNvSpPr/>
          <p:nvPr/>
        </p:nvSpPr>
        <p:spPr>
          <a:xfrm>
            <a:off x="691736" y="1038721"/>
            <a:ext cx="4684794" cy="169466"/>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Raleway" pitchFamily="34" charset="0"/>
                <a:ea typeface="Raleway" pitchFamily="34" charset="-122"/>
                <a:cs typeface="Raleway" pitchFamily="34" charset="-120"/>
              </a:rPr>
              <a:t>Transaction Value Metrics</a:t>
            </a:r>
            <a:endParaRPr lang="en-US" sz="1050" dirty="0"/>
          </a:p>
        </p:txBody>
      </p:sp>
      <p:sp>
        <p:nvSpPr>
          <p:cNvPr id="5" name="Shape 3"/>
          <p:cNvSpPr/>
          <p:nvPr/>
        </p:nvSpPr>
        <p:spPr>
          <a:xfrm>
            <a:off x="691736" y="1288256"/>
            <a:ext cx="2306778" cy="1227435"/>
          </a:xfrm>
          <a:prstGeom prst="roundRect">
            <a:avLst>
              <a:gd name="adj" fmla="val 3714"/>
            </a:avLst>
          </a:prstGeom>
          <a:solidFill>
            <a:srgbClr val="1B1B27">
              <a:alpha val="95000"/>
            </a:srgbClr>
          </a:solidFill>
          <a:ln w="12700">
            <a:solidFill>
              <a:srgbClr val="C7C7D0"/>
            </a:solidFill>
            <a:prstDash val="solid"/>
          </a:ln>
        </p:spPr>
      </p:sp>
      <p:sp>
        <p:nvSpPr>
          <p:cNvPr id="6" name="Text 4"/>
          <p:cNvSpPr/>
          <p:nvPr/>
        </p:nvSpPr>
        <p:spPr>
          <a:xfrm>
            <a:off x="812879" y="1409402"/>
            <a:ext cx="2064492" cy="338931"/>
          </a:xfrm>
          <a:prstGeom prst="rect">
            <a:avLst/>
          </a:prstGeom>
          <a:noFill/>
          <a:ln/>
        </p:spPr>
        <p:txBody>
          <a:bodyPr wrap="square" lIns="0" tIns="0" rIns="0" bIns="0" rtlCol="0" anchor="t">
            <a:normAutofit/>
          </a:bodyPr>
          <a:lstStyle/>
          <a:p>
            <a:pPr algn="l" indent="0" marL="0">
              <a:lnSpc>
                <a:spcPct val="104000"/>
              </a:lnSpc>
              <a:buNone/>
            </a:pPr>
            <a:r>
              <a:rPr lang="en-US" sz="1050" dirty="0">
                <a:solidFill>
                  <a:srgbClr val="FFFFFF"/>
                </a:solidFill>
                <a:latin typeface="Raleway" pitchFamily="34" charset="0"/>
                <a:ea typeface="Raleway" pitchFamily="34" charset="-122"/>
                <a:cs typeface="Raleway" pitchFamily="34" charset="-120"/>
              </a:rPr>
              <a:t>$7.35 — Average Transaction Value</a:t>
            </a:r>
            <a:endParaRPr lang="en-US" sz="1050" dirty="0"/>
          </a:p>
        </p:txBody>
      </p:sp>
      <p:sp>
        <p:nvSpPr>
          <p:cNvPr id="7" name="Text 5"/>
          <p:cNvSpPr/>
          <p:nvPr/>
        </p:nvSpPr>
        <p:spPr>
          <a:xfrm>
            <a:off x="812879" y="1819473"/>
            <a:ext cx="2064492" cy="287536"/>
          </a:xfrm>
          <a:prstGeom prst="rect">
            <a:avLst/>
          </a:prstGeom>
          <a:noFill/>
          <a:ln/>
        </p:spPr>
        <p:txBody>
          <a:bodyPr wrap="square" lIns="0" tIns="0" rIns="0" bIns="0" rtlCol="0" anchor="t">
            <a:normAutofit/>
          </a:bodyPr>
          <a:lstStyle/>
          <a:p>
            <a:pPr algn="l" indent="0" marL="0">
              <a:lnSpc>
                <a:spcPct val="110000"/>
              </a:lnSpc>
              <a:buNone/>
            </a:pPr>
            <a:r>
              <a:rPr lang="en-US" sz="850" dirty="0">
                <a:solidFill>
                  <a:srgbClr val="FFFFFF"/>
                </a:solidFill>
                <a:latin typeface="Roboto" pitchFamily="34" charset="0"/>
                <a:ea typeface="Roboto" pitchFamily="34" charset="-122"/>
                <a:cs typeface="Roboto" pitchFamily="34" charset="-120"/>
              </a:rPr>
              <a:t>Mean spend per transaction across all loyalty card holders in the analysis period.</a:t>
            </a:r>
            <a:endParaRPr lang="en-US" sz="850" dirty="0"/>
          </a:p>
        </p:txBody>
      </p:sp>
      <p:sp>
        <p:nvSpPr>
          <p:cNvPr id="8" name="Shape 6"/>
          <p:cNvSpPr/>
          <p:nvPr/>
        </p:nvSpPr>
        <p:spPr>
          <a:xfrm>
            <a:off x="3069652" y="1288256"/>
            <a:ext cx="2306877" cy="1227435"/>
          </a:xfrm>
          <a:prstGeom prst="roundRect">
            <a:avLst>
              <a:gd name="adj" fmla="val 3714"/>
            </a:avLst>
          </a:prstGeom>
          <a:solidFill>
            <a:srgbClr val="1B1B27">
              <a:alpha val="95000"/>
            </a:srgbClr>
          </a:solidFill>
          <a:ln w="12700">
            <a:solidFill>
              <a:srgbClr val="C7C7D0"/>
            </a:solidFill>
            <a:prstDash val="solid"/>
          </a:ln>
        </p:spPr>
      </p:sp>
      <p:sp>
        <p:nvSpPr>
          <p:cNvPr id="9" name="Text 7"/>
          <p:cNvSpPr/>
          <p:nvPr/>
        </p:nvSpPr>
        <p:spPr>
          <a:xfrm>
            <a:off x="3190795" y="1409402"/>
            <a:ext cx="2064591" cy="338931"/>
          </a:xfrm>
          <a:prstGeom prst="rect">
            <a:avLst/>
          </a:prstGeom>
          <a:noFill/>
          <a:ln/>
        </p:spPr>
        <p:txBody>
          <a:bodyPr wrap="square" lIns="0" tIns="0" rIns="0" bIns="0" rtlCol="0" anchor="t">
            <a:normAutofit/>
          </a:bodyPr>
          <a:lstStyle/>
          <a:p>
            <a:pPr algn="l" indent="0" marL="0">
              <a:lnSpc>
                <a:spcPct val="104000"/>
              </a:lnSpc>
              <a:buNone/>
            </a:pPr>
            <a:r>
              <a:rPr lang="en-US" sz="1050" dirty="0">
                <a:solidFill>
                  <a:srgbClr val="FFFFFF"/>
                </a:solidFill>
                <a:latin typeface="Raleway" pitchFamily="34" charset="0"/>
                <a:ea typeface="Raleway" pitchFamily="34" charset="-122"/>
                <a:cs typeface="Raleway" pitchFamily="34" charset="-120"/>
              </a:rPr>
              <a:t>$7.40 — Median Transaction Value</a:t>
            </a:r>
            <a:endParaRPr lang="en-US" sz="1050" dirty="0"/>
          </a:p>
        </p:txBody>
      </p:sp>
      <p:sp>
        <p:nvSpPr>
          <p:cNvPr id="10" name="Text 8"/>
          <p:cNvSpPr/>
          <p:nvPr/>
        </p:nvSpPr>
        <p:spPr>
          <a:xfrm>
            <a:off x="3190795" y="1819473"/>
            <a:ext cx="2064591" cy="575072"/>
          </a:xfrm>
          <a:prstGeom prst="rect">
            <a:avLst/>
          </a:prstGeom>
          <a:noFill/>
          <a:ln/>
        </p:spPr>
        <p:txBody>
          <a:bodyPr wrap="square" lIns="0" tIns="0" rIns="0" bIns="0" rtlCol="0" anchor="t">
            <a:normAutofit/>
          </a:bodyPr>
          <a:lstStyle/>
          <a:p>
            <a:pPr algn="l" indent="0" marL="0">
              <a:lnSpc>
                <a:spcPct val="110000"/>
              </a:lnSpc>
              <a:buNone/>
            </a:pPr>
            <a:r>
              <a:rPr lang="en-US" sz="850" dirty="0">
                <a:solidFill>
                  <a:srgbClr val="FFFFFF"/>
                </a:solidFill>
                <a:latin typeface="Roboto" pitchFamily="34" charset="0"/>
                <a:ea typeface="Roboto" pitchFamily="34" charset="-122"/>
                <a:cs typeface="Roboto" pitchFamily="34" charset="-120"/>
              </a:rPr>
              <a:t>The median closely tracks the mean, indicating a relatively symmetric distribution of transaction values with limited skew from outliers.</a:t>
            </a:r>
            <a:endParaRPr lang="en-US" sz="850" dirty="0"/>
          </a:p>
        </p:txBody>
      </p:sp>
      <p:sp>
        <p:nvSpPr>
          <p:cNvPr id="11" name="Shape 9"/>
          <p:cNvSpPr/>
          <p:nvPr/>
        </p:nvSpPr>
        <p:spPr>
          <a:xfrm>
            <a:off x="691736" y="2586831"/>
            <a:ext cx="4684794" cy="770434"/>
          </a:xfrm>
          <a:prstGeom prst="roundRect">
            <a:avLst>
              <a:gd name="adj" fmla="val 5917"/>
            </a:avLst>
          </a:prstGeom>
          <a:solidFill>
            <a:srgbClr val="1B1B27">
              <a:alpha val="95000"/>
            </a:srgbClr>
          </a:solidFill>
          <a:ln w="12700">
            <a:solidFill>
              <a:srgbClr val="C7C7D0"/>
            </a:solidFill>
            <a:prstDash val="solid"/>
          </a:ln>
        </p:spPr>
      </p:sp>
      <p:sp>
        <p:nvSpPr>
          <p:cNvPr id="12" name="Text 10"/>
          <p:cNvSpPr/>
          <p:nvPr/>
        </p:nvSpPr>
        <p:spPr>
          <a:xfrm>
            <a:off x="812879" y="2707977"/>
            <a:ext cx="4442508" cy="169466"/>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Raleway" pitchFamily="34" charset="0"/>
                <a:ea typeface="Raleway" pitchFamily="34" charset="-122"/>
                <a:cs typeface="Raleway" pitchFamily="34" charset="-120"/>
              </a:rPr>
              <a:t>1.92 — Average Units per Transaction</a:t>
            </a:r>
            <a:endParaRPr lang="en-US" sz="1050" dirty="0"/>
          </a:p>
        </p:txBody>
      </p:sp>
      <p:sp>
        <p:nvSpPr>
          <p:cNvPr id="13" name="Text 11"/>
          <p:cNvSpPr/>
          <p:nvPr/>
        </p:nvSpPr>
        <p:spPr>
          <a:xfrm>
            <a:off x="812879" y="2948583"/>
            <a:ext cx="4442508" cy="287536"/>
          </a:xfrm>
          <a:prstGeom prst="rect">
            <a:avLst/>
          </a:prstGeom>
          <a:noFill/>
          <a:ln/>
        </p:spPr>
        <p:txBody>
          <a:bodyPr wrap="square" lIns="0" tIns="0" rIns="0" bIns="0" rtlCol="0" anchor="t">
            <a:normAutofit/>
          </a:bodyPr>
          <a:lstStyle/>
          <a:p>
            <a:pPr algn="l" indent="0" marL="0">
              <a:lnSpc>
                <a:spcPct val="110000"/>
              </a:lnSpc>
              <a:buNone/>
            </a:pPr>
            <a:r>
              <a:rPr lang="en-US" sz="850" dirty="0">
                <a:solidFill>
                  <a:srgbClr val="FFFFFF"/>
                </a:solidFill>
                <a:latin typeface="Roboto" pitchFamily="34" charset="0"/>
                <a:ea typeface="Roboto" pitchFamily="34" charset="-122"/>
                <a:cs typeface="Roboto" pitchFamily="34" charset="-120"/>
              </a:rPr>
              <a:t>Customers typically purchase fewer than two units per visit, suggesting single-pack purchasing is the dominant behavior.</a:t>
            </a:r>
            <a:endParaRPr lang="en-US" sz="850" dirty="0"/>
          </a:p>
        </p:txBody>
      </p:sp>
      <p:sp>
        <p:nvSpPr>
          <p:cNvPr id="14" name="Text 12"/>
          <p:cNvSpPr/>
          <p:nvPr/>
        </p:nvSpPr>
        <p:spPr>
          <a:xfrm>
            <a:off x="5677849" y="1038721"/>
            <a:ext cx="5858621" cy="169466"/>
          </a:xfrm>
          <a:prstGeom prst="rect">
            <a:avLst/>
          </a:prstGeom>
          <a:noFill/>
          <a:ln/>
        </p:spPr>
        <p:txBody>
          <a:bodyPr wrap="none" lIns="0" tIns="0" rIns="0" bIns="0" rtlCol="0" anchor="t"/>
          <a:lstStyle/>
          <a:p>
            <a:pPr algn="l" indent="0" marL="0">
              <a:lnSpc>
                <a:spcPct val="104000"/>
              </a:lnSpc>
              <a:buNone/>
            </a:pPr>
            <a:r>
              <a:rPr lang="en-US" sz="1050" dirty="0">
                <a:solidFill>
                  <a:srgbClr val="1B1B27"/>
                </a:solidFill>
                <a:latin typeface="Raleway" pitchFamily="34" charset="0"/>
                <a:ea typeface="Raleway" pitchFamily="34" charset="-122"/>
                <a:cs typeface="Raleway" pitchFamily="34" charset="-120"/>
              </a:rPr>
              <a:t>Repeat Customer Rate: </a:t>
            </a:r>
            <a:pPr algn="l" indent="0" marL="0">
              <a:lnSpc>
                <a:spcPct val="104000"/>
              </a:lnSpc>
              <a:buNone/>
            </a:pPr>
            <a:r>
              <a:rPr lang="en-US" sz="1050" dirty="0">
                <a:solidFill>
                  <a:srgbClr val="1B1B27"/>
                </a:solidFill>
                <a:latin typeface="Raleway" pitchFamily="34" charset="0"/>
                <a:ea typeface="Raleway" pitchFamily="34" charset="-122"/>
                <a:cs typeface="Raleway" pitchFamily="34" charset="-120"/>
              </a:rPr>
              <a:t>73.7%</a:t>
            </a:r>
            <a:endParaRPr lang="en-US" sz="1050" dirty="0"/>
          </a:p>
        </p:txBody>
      </p:sp>
      <p:sp>
        <p:nvSpPr>
          <p:cNvPr id="15" name="Text 13"/>
          <p:cNvSpPr/>
          <p:nvPr/>
        </p:nvSpPr>
        <p:spPr>
          <a:xfrm>
            <a:off x="7939583" y="1993602"/>
            <a:ext cx="1334955" cy="271363"/>
          </a:xfrm>
          <a:prstGeom prst="rect">
            <a:avLst/>
          </a:prstGeom>
          <a:noFill/>
          <a:ln/>
        </p:spPr>
        <p:txBody>
          <a:bodyPr wrap="none" lIns="0" tIns="0" rIns="0" bIns="0" rtlCol="0" anchor="t"/>
          <a:lstStyle/>
          <a:p>
            <a:pPr algn="ctr" indent="0" marL="0">
              <a:lnSpc>
                <a:spcPct val="83000"/>
              </a:lnSpc>
              <a:buNone/>
            </a:pPr>
            <a:r>
              <a:rPr lang="en-US" sz="2100" dirty="0">
                <a:solidFill>
                  <a:srgbClr val="3C3939"/>
                </a:solidFill>
                <a:latin typeface="Raleway" pitchFamily="34" charset="0"/>
                <a:ea typeface="Raleway" pitchFamily="34" charset="-122"/>
                <a:cs typeface="Raleway" pitchFamily="34" charset="-120"/>
              </a:rPr>
              <a:t>73.7%</a:t>
            </a:r>
            <a:endParaRPr lang="en-US" sz="2100" dirty="0"/>
          </a:p>
        </p:txBody>
      </p:sp>
      <p:pic>
        <p:nvPicPr>
          <p:cNvPr id="16" name="Image 0" descr="preencoded.png">    </p:cNvPr>
          <p:cNvPicPr>
            <a:picLocks noChangeAspect="1"/>
          </p:cNvPicPr>
          <p:nvPr/>
        </p:nvPicPr>
        <p:blipFill>
          <a:blip r:embed="rId1"/>
          <a:stretch>
            <a:fillRect/>
          </a:stretch>
        </p:blipFill>
        <p:spPr>
          <a:xfrm>
            <a:off x="7793140" y="1315343"/>
            <a:ext cx="1628040" cy="1628080"/>
          </a:xfrm>
          <a:prstGeom prst="rect">
            <a:avLst/>
          </a:prstGeom>
        </p:spPr>
      </p:pic>
      <p:sp>
        <p:nvSpPr>
          <p:cNvPr id="17" name="Text 14"/>
          <p:cNvSpPr/>
          <p:nvPr/>
        </p:nvSpPr>
        <p:spPr>
          <a:xfrm>
            <a:off x="5677849" y="3041650"/>
            <a:ext cx="5858621" cy="169466"/>
          </a:xfrm>
          <a:prstGeom prst="rect">
            <a:avLst/>
          </a:prstGeom>
          <a:noFill/>
          <a:ln/>
        </p:spPr>
        <p:txBody>
          <a:bodyPr wrap="none" lIns="0" tIns="0" rIns="0" bIns="0" rtlCol="0" anchor="t"/>
          <a:lstStyle/>
          <a:p>
            <a:pPr algn="ctr" indent="0" marL="0">
              <a:lnSpc>
                <a:spcPct val="104000"/>
              </a:lnSpc>
              <a:buNone/>
            </a:pPr>
            <a:r>
              <a:rPr lang="en-US" sz="1050" dirty="0">
                <a:solidFill>
                  <a:srgbClr val="3C3939"/>
                </a:solidFill>
                <a:latin typeface="Raleway" pitchFamily="34" charset="0"/>
                <a:ea typeface="Raleway" pitchFamily="34" charset="-122"/>
                <a:cs typeface="Raleway" pitchFamily="34" charset="-120"/>
              </a:rPr>
              <a:t>Repeat Customers</a:t>
            </a:r>
            <a:endParaRPr lang="en-US" sz="1050" dirty="0"/>
          </a:p>
        </p:txBody>
      </p:sp>
      <p:sp>
        <p:nvSpPr>
          <p:cNvPr id="18" name="Text 15"/>
          <p:cNvSpPr/>
          <p:nvPr/>
        </p:nvSpPr>
        <p:spPr>
          <a:xfrm>
            <a:off x="5677849" y="3282255"/>
            <a:ext cx="5858621" cy="143768"/>
          </a:xfrm>
          <a:prstGeom prst="rect">
            <a:avLst/>
          </a:prstGeom>
          <a:noFill/>
          <a:ln/>
        </p:spPr>
        <p:txBody>
          <a:bodyPr wrap="none" lIns="0" tIns="0" rIns="0" bIns="0" rtlCol="0" anchor="t"/>
          <a:lstStyle/>
          <a:p>
            <a:pPr algn="ctr" indent="0" marL="0">
              <a:lnSpc>
                <a:spcPct val="110000"/>
              </a:lnSpc>
              <a:buNone/>
            </a:pPr>
            <a:r>
              <a:rPr lang="en-US" sz="850" dirty="0">
                <a:solidFill>
                  <a:srgbClr val="3C3939"/>
                </a:solidFill>
                <a:latin typeface="Roboto" pitchFamily="34" charset="0"/>
                <a:ea typeface="Roboto" pitchFamily="34" charset="-122"/>
                <a:cs typeface="Roboto" pitchFamily="34" charset="-120"/>
              </a:rPr>
              <a:t>Proportion of customers who purchased more than once during the analysis period</a:t>
            </a:r>
            <a:endParaRPr lang="en-US" sz="850" dirty="0"/>
          </a:p>
        </p:txBody>
      </p:sp>
      <p:sp>
        <p:nvSpPr>
          <p:cNvPr id="19" name="Text 16"/>
          <p:cNvSpPr/>
          <p:nvPr/>
        </p:nvSpPr>
        <p:spPr>
          <a:xfrm>
            <a:off x="7939583" y="4273748"/>
            <a:ext cx="1334955" cy="271363"/>
          </a:xfrm>
          <a:prstGeom prst="rect">
            <a:avLst/>
          </a:prstGeom>
          <a:noFill/>
          <a:ln/>
        </p:spPr>
        <p:txBody>
          <a:bodyPr wrap="none" lIns="0" tIns="0" rIns="0" bIns="0" rtlCol="0" anchor="t"/>
          <a:lstStyle/>
          <a:p>
            <a:pPr algn="ctr" indent="0" marL="0">
              <a:lnSpc>
                <a:spcPct val="83000"/>
              </a:lnSpc>
              <a:buNone/>
            </a:pPr>
            <a:r>
              <a:rPr lang="en-US" sz="2100" dirty="0">
                <a:solidFill>
                  <a:srgbClr val="3C3939"/>
                </a:solidFill>
                <a:latin typeface="Raleway" pitchFamily="34" charset="0"/>
                <a:ea typeface="Raleway" pitchFamily="34" charset="-122"/>
                <a:cs typeface="Raleway" pitchFamily="34" charset="-120"/>
              </a:rPr>
              <a:t>26.3%</a:t>
            </a:r>
            <a:endParaRPr lang="en-US" sz="2100" dirty="0"/>
          </a:p>
        </p:txBody>
      </p:sp>
      <p:pic>
        <p:nvPicPr>
          <p:cNvPr id="20" name="Image 1" descr="preencoded.png">    </p:cNvPr>
          <p:cNvPicPr>
            <a:picLocks noChangeAspect="1"/>
          </p:cNvPicPr>
          <p:nvPr/>
        </p:nvPicPr>
        <p:blipFill>
          <a:blip r:embed="rId2"/>
          <a:stretch>
            <a:fillRect/>
          </a:stretch>
        </p:blipFill>
        <p:spPr>
          <a:xfrm>
            <a:off x="7793140" y="3595489"/>
            <a:ext cx="1628040" cy="1628080"/>
          </a:xfrm>
          <a:prstGeom prst="rect">
            <a:avLst/>
          </a:prstGeom>
        </p:spPr>
      </p:pic>
      <p:sp>
        <p:nvSpPr>
          <p:cNvPr id="21" name="Text 17"/>
          <p:cNvSpPr/>
          <p:nvPr/>
        </p:nvSpPr>
        <p:spPr>
          <a:xfrm>
            <a:off x="5677849" y="5321796"/>
            <a:ext cx="5858621" cy="169466"/>
          </a:xfrm>
          <a:prstGeom prst="rect">
            <a:avLst/>
          </a:prstGeom>
          <a:noFill/>
          <a:ln/>
        </p:spPr>
        <p:txBody>
          <a:bodyPr wrap="none" lIns="0" tIns="0" rIns="0" bIns="0" rtlCol="0" anchor="t"/>
          <a:lstStyle/>
          <a:p>
            <a:pPr algn="ctr" indent="0" marL="0">
              <a:lnSpc>
                <a:spcPct val="104000"/>
              </a:lnSpc>
              <a:buNone/>
            </a:pPr>
            <a:r>
              <a:rPr lang="en-US" sz="1050" dirty="0">
                <a:solidFill>
                  <a:srgbClr val="3C3939"/>
                </a:solidFill>
                <a:latin typeface="Raleway" pitchFamily="34" charset="0"/>
                <a:ea typeface="Raleway" pitchFamily="34" charset="-122"/>
                <a:cs typeface="Raleway" pitchFamily="34" charset="-120"/>
              </a:rPr>
              <a:t>Single-Visit Customers</a:t>
            </a:r>
            <a:endParaRPr lang="en-US" sz="1050" dirty="0"/>
          </a:p>
        </p:txBody>
      </p:sp>
      <p:sp>
        <p:nvSpPr>
          <p:cNvPr id="22" name="Text 18"/>
          <p:cNvSpPr/>
          <p:nvPr/>
        </p:nvSpPr>
        <p:spPr>
          <a:xfrm>
            <a:off x="5677849" y="5562402"/>
            <a:ext cx="5858621" cy="143768"/>
          </a:xfrm>
          <a:prstGeom prst="rect">
            <a:avLst/>
          </a:prstGeom>
          <a:noFill/>
          <a:ln/>
        </p:spPr>
        <p:txBody>
          <a:bodyPr wrap="none" lIns="0" tIns="0" rIns="0" bIns="0" rtlCol="0" anchor="t"/>
          <a:lstStyle/>
          <a:p>
            <a:pPr algn="ctr" indent="0" marL="0">
              <a:lnSpc>
                <a:spcPct val="110000"/>
              </a:lnSpc>
              <a:buNone/>
            </a:pPr>
            <a:r>
              <a:rPr lang="en-US" sz="850" dirty="0">
                <a:solidFill>
                  <a:srgbClr val="3C3939"/>
                </a:solidFill>
                <a:latin typeface="Roboto" pitchFamily="34" charset="0"/>
                <a:ea typeface="Roboto" pitchFamily="34" charset="-122"/>
                <a:cs typeface="Roboto" pitchFamily="34" charset="-120"/>
              </a:rPr>
              <a:t>Customers who transacted only once — a potential re-engagement target</a:t>
            </a:r>
            <a:endParaRPr lang="en-US" sz="850" dirty="0"/>
          </a:p>
        </p:txBody>
      </p:sp>
      <p:sp>
        <p:nvSpPr>
          <p:cNvPr id="23" name="Shape 19"/>
          <p:cNvSpPr/>
          <p:nvPr/>
        </p:nvSpPr>
        <p:spPr>
          <a:xfrm>
            <a:off x="5677849" y="5786239"/>
            <a:ext cx="5858621" cy="469900"/>
          </a:xfrm>
          <a:prstGeom prst="roundRect">
            <a:avLst>
              <a:gd name="adj" fmla="val 9701"/>
            </a:avLst>
          </a:prstGeom>
          <a:solidFill>
            <a:srgbClr val="E1E1EA"/>
          </a:solidFill>
          <a:ln/>
        </p:spPr>
      </p:sp>
      <p:pic>
        <p:nvPicPr>
          <p:cNvPr id="24" name="Image 2" descr="preencoded.png">    </p:cNvPr>
          <p:cNvPicPr>
            <a:picLocks noChangeAspect="1"/>
          </p:cNvPicPr>
          <p:nvPr/>
        </p:nvPicPr>
        <p:blipFill>
          <a:blip r:embed="rId3"/>
          <a:stretch>
            <a:fillRect/>
          </a:stretch>
        </p:blipFill>
        <p:spPr>
          <a:xfrm>
            <a:off x="5786293" y="5897463"/>
            <a:ext cx="135629" cy="108446"/>
          </a:xfrm>
          <a:prstGeom prst="rect">
            <a:avLst/>
          </a:prstGeom>
        </p:spPr>
      </p:pic>
      <p:sp>
        <p:nvSpPr>
          <p:cNvPr id="25" name="Text 20"/>
          <p:cNvSpPr/>
          <p:nvPr/>
        </p:nvSpPr>
        <p:spPr>
          <a:xfrm>
            <a:off x="6030365" y="5877421"/>
            <a:ext cx="5397663" cy="287536"/>
          </a:xfrm>
          <a:prstGeom prst="rect">
            <a:avLst/>
          </a:prstGeom>
          <a:noFill/>
          <a:ln/>
        </p:spPr>
        <p:txBody>
          <a:bodyPr wrap="square" lIns="0" tIns="0" rIns="0" bIns="0" rtlCol="0" anchor="t">
            <a:normAutofit/>
          </a:bodyPr>
          <a:lstStyle/>
          <a:p>
            <a:pPr algn="l" indent="0" marL="0">
              <a:lnSpc>
                <a:spcPct val="110000"/>
              </a:lnSpc>
              <a:buNone/>
            </a:pPr>
            <a:r>
              <a:rPr lang="en-US" sz="850" dirty="0">
                <a:solidFill>
                  <a:srgbClr val="000000"/>
                </a:solidFill>
                <a:latin typeface="Roboto" pitchFamily="34" charset="0"/>
                <a:ea typeface="Roboto" pitchFamily="34" charset="-122"/>
                <a:cs typeface="Roboto" pitchFamily="34" charset="-120"/>
              </a:rPr>
              <a:t>The high repeat-customer rate of 73.7% indicates strong category loyalty and provides a significant opportunity for loyalty-based marketing and personalized promotions to deepen engagement and increase basket size.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Monthly Sales Analysis</a:t>
            </a:r>
            <a:endParaRPr lang="en-US" sz="1600" dirty="0"/>
          </a:p>
        </p:txBody>
      </p:sp>
      <p:sp>
        <p:nvSpPr>
          <p:cNvPr id="3" name="Text 1"/>
          <p:cNvSpPr/>
          <p:nvPr/>
        </p:nvSpPr>
        <p:spPr>
          <a:xfrm>
            <a:off x="661475" y="795933"/>
            <a:ext cx="10868745"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Sales remained relatively stable throughout the analysis period but showed identifiable stronger and weaker months. </a:t>
            </a:r>
            <a:pPr algn="l" indent="0" marL="0">
              <a:lnSpc>
                <a:spcPct val="100000"/>
              </a:lnSpc>
              <a:buNone/>
            </a:pPr>
            <a:r>
              <a:rPr lang="en-US" sz="650" b="1" dirty="0">
                <a:solidFill>
                  <a:srgbClr val="3C3939"/>
                </a:solidFill>
                <a:latin typeface="Roboto Bold" pitchFamily="34" charset="0"/>
                <a:ea typeface="Roboto Bold" pitchFamily="34" charset="-122"/>
                <a:cs typeface="Roboto Bold" pitchFamily="34" charset="-120"/>
              </a:rPr>
              <a:t>December 2018 was the peak month at $167,913.40</a:t>
            </a:r>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 while </a:t>
            </a:r>
            <a:pPr algn="l" indent="0" marL="0">
              <a:lnSpc>
                <a:spcPct val="100000"/>
              </a:lnSpc>
              <a:buNone/>
            </a:pPr>
            <a:r>
              <a:rPr lang="en-US" sz="650" b="1" dirty="0">
                <a:solidFill>
                  <a:srgbClr val="3C3939"/>
                </a:solidFill>
                <a:latin typeface="Roboto Bold" pitchFamily="34" charset="0"/>
                <a:ea typeface="Roboto Bold" pitchFamily="34" charset="-122"/>
                <a:cs typeface="Roboto Bold" pitchFamily="34" charset="-120"/>
              </a:rPr>
              <a:t>February 2019 was the weakest at $150,665.00</a:t>
            </a:r>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 — a variance of approximately $17,248 between the highest and lowest months.</a:t>
            </a:r>
            <a:endParaRPr lang="en-US" sz="650" dirty="0"/>
          </a:p>
        </p:txBody>
      </p:sp>
      <p:pic>
        <p:nvPicPr>
          <p:cNvPr id="4" name="Image 0" descr="preencoded.png">    </p:cNvPr>
          <p:cNvPicPr>
            <a:picLocks noChangeAspect="1"/>
          </p:cNvPicPr>
          <p:nvPr/>
        </p:nvPicPr>
        <p:blipFill>
          <a:blip r:embed="rId1"/>
          <a:stretch>
            <a:fillRect/>
          </a:stretch>
        </p:blipFill>
        <p:spPr>
          <a:xfrm>
            <a:off x="661475" y="1040606"/>
            <a:ext cx="10868745" cy="6086574"/>
          </a:xfrm>
          <a:prstGeom prst="rect">
            <a:avLst/>
          </a:prstGeom>
        </p:spPr>
      </p:pic>
      <p:sp>
        <p:nvSpPr>
          <p:cNvPr id="5" name="Shape 2"/>
          <p:cNvSpPr/>
          <p:nvPr/>
        </p:nvSpPr>
        <p:spPr>
          <a:xfrm>
            <a:off x="661475" y="7173615"/>
            <a:ext cx="10868745" cy="218877"/>
          </a:xfrm>
          <a:prstGeom prst="roundRect">
            <a:avLst>
              <a:gd name="adj" fmla="val 15868"/>
            </a:avLst>
          </a:prstGeom>
          <a:solidFill>
            <a:srgbClr val="B6D6FC"/>
          </a:solidFill>
          <a:ln/>
        </p:spPr>
      </p:sp>
      <p:pic>
        <p:nvPicPr>
          <p:cNvPr id="6" name="Image 1" descr="preencoded.png">    </p:cNvPr>
          <p:cNvPicPr>
            <a:picLocks noChangeAspect="1"/>
          </p:cNvPicPr>
          <p:nvPr/>
        </p:nvPicPr>
        <p:blipFill>
          <a:blip r:embed="rId2"/>
          <a:stretch>
            <a:fillRect/>
          </a:stretch>
        </p:blipFill>
        <p:spPr>
          <a:xfrm>
            <a:off x="744122" y="7235527"/>
            <a:ext cx="103284" cy="82649"/>
          </a:xfrm>
          <a:prstGeom prst="rect">
            <a:avLst/>
          </a:prstGeom>
        </p:spPr>
      </p:pic>
      <p:sp>
        <p:nvSpPr>
          <p:cNvPr id="7" name="Text 3"/>
          <p:cNvSpPr/>
          <p:nvPr/>
        </p:nvSpPr>
        <p:spPr>
          <a:xfrm>
            <a:off x="930053" y="7235527"/>
            <a:ext cx="11127104" cy="99120"/>
          </a:xfrm>
          <a:prstGeom prst="rect">
            <a:avLst/>
          </a:prstGeom>
          <a:noFill/>
          <a:ln/>
        </p:spPr>
        <p:txBody>
          <a:bodyPr wrap="none" lIns="0" tIns="0" rIns="0" bIns="0" rtlCol="0" anchor="t"/>
          <a:lstStyle/>
          <a:p>
            <a:pPr algn="l" indent="0" marL="0">
              <a:lnSpc>
                <a:spcPct val="100000"/>
              </a:lnSpc>
              <a:buNone/>
            </a:pPr>
            <a:r>
              <a:rPr lang="en-US" sz="650" dirty="0">
                <a:solidFill>
                  <a:srgbClr val="000000"/>
                </a:solidFill>
                <a:latin typeface="Roboto" pitchFamily="34" charset="0"/>
                <a:ea typeface="Roboto" pitchFamily="34" charset="-122"/>
                <a:cs typeface="Roboto" pitchFamily="34" charset="-120"/>
              </a:rPr>
              <a:t>Seasonal peaks in December and troughs in February provide a clear opportunity to plan targeted promotions and inventory adjustments around predictable demand cycles.</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472083"/>
            <a:ext cx="10868745" cy="363339"/>
          </a:xfrm>
          <a:prstGeom prst="rect">
            <a:avLst/>
          </a:prstGeom>
          <a:noFill/>
          <a:ln/>
        </p:spPr>
        <p:txBody>
          <a:bodyPr wrap="none" lIns="0" tIns="0" rIns="0" bIns="0" rtlCol="0" anchor="t"/>
          <a:lstStyle/>
          <a:p>
            <a:pPr algn="l" indent="0" marL="0">
              <a:lnSpc>
                <a:spcPct val="104000"/>
              </a:lnSpc>
              <a:buNone/>
            </a:pPr>
            <a:r>
              <a:rPr lang="en-US" sz="2250" dirty="0">
                <a:solidFill>
                  <a:srgbClr val="1B1B27"/>
                </a:solidFill>
                <a:latin typeface="Raleway" pitchFamily="34" charset="0"/>
                <a:ea typeface="Raleway" pitchFamily="34" charset="-122"/>
                <a:cs typeface="Raleway" pitchFamily="34" charset="-120"/>
              </a:rPr>
              <a:t>Product &amp; Brand Performance Analysis</a:t>
            </a:r>
            <a:endParaRPr lang="en-US" sz="2250" dirty="0"/>
          </a:p>
        </p:txBody>
      </p:sp>
      <p:sp>
        <p:nvSpPr>
          <p:cNvPr id="3" name="Text 1"/>
          <p:cNvSpPr/>
          <p:nvPr/>
        </p:nvSpPr>
        <p:spPr>
          <a:xfrm>
            <a:off x="661475" y="1039812"/>
            <a:ext cx="5292593" cy="181670"/>
          </a:xfrm>
          <a:prstGeom prst="rect">
            <a:avLst/>
          </a:prstGeom>
          <a:noFill/>
          <a:ln/>
        </p:spPr>
        <p:txBody>
          <a:bodyPr wrap="none" lIns="0" tIns="0" rIns="0" bIns="0" rtlCol="0" anchor="t"/>
          <a:lstStyle/>
          <a:p>
            <a:pPr algn="l" indent="0" marL="0">
              <a:lnSpc>
                <a:spcPct val="104000"/>
              </a:lnSpc>
              <a:buNone/>
            </a:pPr>
            <a:r>
              <a:rPr lang="en-US" sz="1100" dirty="0">
                <a:solidFill>
                  <a:srgbClr val="1B1B27"/>
                </a:solidFill>
                <a:latin typeface="Raleway" pitchFamily="34" charset="0"/>
                <a:ea typeface="Raleway" pitchFamily="34" charset="-122"/>
                <a:cs typeface="Raleway" pitchFamily="34" charset="-120"/>
              </a:rPr>
              <a:t>Product-Level Performance</a:t>
            </a:r>
            <a:endParaRPr lang="en-US" sz="1100" dirty="0"/>
          </a:p>
        </p:txBody>
      </p:sp>
      <p:sp>
        <p:nvSpPr>
          <p:cNvPr id="4" name="Text 2"/>
          <p:cNvSpPr/>
          <p:nvPr/>
        </p:nvSpPr>
        <p:spPr>
          <a:xfrm>
            <a:off x="661475" y="1303238"/>
            <a:ext cx="5292593" cy="633412"/>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The highest-revenue individual product was </a:t>
            </a:r>
            <a:pPr algn="l" indent="0" marL="0">
              <a:lnSpc>
                <a:spcPct val="114000"/>
              </a:lnSpc>
              <a:buNone/>
            </a:pPr>
            <a:r>
              <a:rPr lang="en-US" sz="900" b="1" dirty="0">
                <a:solidFill>
                  <a:srgbClr val="3C3939"/>
                </a:solidFill>
                <a:latin typeface="Roboto Bold" pitchFamily="34" charset="0"/>
                <a:ea typeface="Roboto Bold" pitchFamily="34" charset="-122"/>
                <a:cs typeface="Roboto Bold" pitchFamily="34" charset="-120"/>
              </a:rPr>
              <a:t>Dorito Corn Chp Supreme 380g</a:t>
            </a:r>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 generating </a:t>
            </a:r>
            <a:pPr algn="l" indent="0" marL="0">
              <a:lnSpc>
                <a:spcPct val="114000"/>
              </a:lnSpc>
              <a:buNone/>
            </a:pPr>
            <a:r>
              <a:rPr lang="en-US" sz="900" b="1" dirty="0">
                <a:solidFill>
                  <a:srgbClr val="3C3939"/>
                </a:solidFill>
                <a:latin typeface="Roboto Bold" pitchFamily="34" charset="0"/>
                <a:ea typeface="Roboto Bold" pitchFamily="34" charset="-122"/>
                <a:cs typeface="Roboto Bold" pitchFamily="34" charset="-120"/>
              </a:rPr>
              <a:t>$40,352.00</a:t>
            </a:r>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 across the analysis period. Critically, this top product accounted for only approximately </a:t>
            </a:r>
            <a:pPr algn="l" indent="0" marL="0">
              <a:lnSpc>
                <a:spcPct val="114000"/>
              </a:lnSpc>
              <a:buNone/>
            </a:pPr>
            <a:r>
              <a:rPr lang="en-US" sz="900" b="1" dirty="0">
                <a:solidFill>
                  <a:srgbClr val="3C3939"/>
                </a:solidFill>
                <a:latin typeface="Roboto Bold" pitchFamily="34" charset="0"/>
                <a:ea typeface="Roboto Bold" pitchFamily="34" charset="-122"/>
                <a:cs typeface="Roboto Bold" pitchFamily="34" charset="-120"/>
              </a:rPr>
              <a:t>2.1% of total revenue</a:t>
            </a:r>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 demonstrating that category revenue is broadly distributed across the 114-product range rather than concentrated in a single SKU.</a:t>
            </a:r>
            <a:endParaRPr lang="en-US" sz="9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28627"/>
            <a:ext cx="2605419" cy="1336477"/>
          </a:xfrm>
          <a:prstGeom prst="rect">
            <a:avLst/>
          </a:prstGeom>
        </p:spPr>
      </p:pic>
      <p:sp>
        <p:nvSpPr>
          <p:cNvPr id="6" name="Text 3"/>
          <p:cNvSpPr/>
          <p:nvPr/>
        </p:nvSpPr>
        <p:spPr>
          <a:xfrm>
            <a:off x="841255" y="2157611"/>
            <a:ext cx="2296658" cy="181670"/>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Top Product Revenue Share: 2.1%</a:t>
            </a:r>
            <a:endParaRPr lang="en-US" sz="1100" dirty="0"/>
          </a:p>
        </p:txBody>
      </p:sp>
      <p:sp>
        <p:nvSpPr>
          <p:cNvPr id="7" name="Text 4"/>
          <p:cNvSpPr/>
          <p:nvPr/>
        </p:nvSpPr>
        <p:spPr>
          <a:xfrm>
            <a:off x="841255" y="2421037"/>
            <a:ext cx="2296658" cy="633412"/>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Dorito Corn Chp Supreme 380g — $40,352.00. Low concentration at product level indicates a healthy, diversified product mix.</a:t>
            </a:r>
            <a:endParaRPr lang="en-US" sz="9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8648" y="2028627"/>
            <a:ext cx="2605419" cy="1336477"/>
          </a:xfrm>
          <a:prstGeom prst="rect">
            <a:avLst/>
          </a:prstGeom>
        </p:spPr>
      </p:pic>
      <p:sp>
        <p:nvSpPr>
          <p:cNvPr id="9" name="Text 5"/>
          <p:cNvSpPr/>
          <p:nvPr/>
        </p:nvSpPr>
        <p:spPr>
          <a:xfrm>
            <a:off x="3528428" y="2157611"/>
            <a:ext cx="2296658" cy="363339"/>
          </a:xfrm>
          <a:prstGeom prst="rect">
            <a:avLst/>
          </a:prstGeom>
          <a:noFill/>
          <a:ln/>
        </p:spPr>
        <p:txBody>
          <a:bodyPr wrap="square" lIns="0" tIns="0" rIns="0" bIns="0" rtlCol="0" anchor="t">
            <a:normAutofit/>
          </a:bodyPr>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Top 10 Products Revenue Share: 17.9%</a:t>
            </a:r>
            <a:endParaRPr lang="en-US" sz="1100" dirty="0"/>
          </a:p>
        </p:txBody>
      </p:sp>
      <p:sp>
        <p:nvSpPr>
          <p:cNvPr id="10" name="Text 6"/>
          <p:cNvSpPr/>
          <p:nvPr/>
        </p:nvSpPr>
        <p:spPr>
          <a:xfrm>
            <a:off x="3528428" y="2602706"/>
            <a:ext cx="2296658" cy="633412"/>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The top ten products collectively contribute less than one-fifth of total revenue, confirming broad distribution across the SKU range.</a:t>
            </a:r>
            <a:endParaRPr lang="en-US" sz="900" dirty="0"/>
          </a:p>
        </p:txBody>
      </p:sp>
      <p:sp>
        <p:nvSpPr>
          <p:cNvPr id="11" name="Text 7"/>
          <p:cNvSpPr/>
          <p:nvPr/>
        </p:nvSpPr>
        <p:spPr>
          <a:xfrm>
            <a:off x="6243977" y="1039812"/>
            <a:ext cx="5292593" cy="181670"/>
          </a:xfrm>
          <a:prstGeom prst="rect">
            <a:avLst/>
          </a:prstGeom>
          <a:noFill/>
          <a:ln/>
        </p:spPr>
        <p:txBody>
          <a:bodyPr wrap="none" lIns="0" tIns="0" rIns="0" bIns="0" rtlCol="0" anchor="t"/>
          <a:lstStyle/>
          <a:p>
            <a:pPr algn="l" indent="0" marL="0">
              <a:lnSpc>
                <a:spcPct val="104000"/>
              </a:lnSpc>
              <a:buNone/>
            </a:pPr>
            <a:r>
              <a:rPr lang="en-US" sz="1100" dirty="0">
                <a:solidFill>
                  <a:srgbClr val="1B1B27"/>
                </a:solidFill>
                <a:latin typeface="Raleway" pitchFamily="34" charset="0"/>
                <a:ea typeface="Raleway" pitchFamily="34" charset="-122"/>
                <a:cs typeface="Raleway" pitchFamily="34" charset="-120"/>
              </a:rPr>
              <a:t>Brand-Level Performance</a:t>
            </a:r>
            <a:endParaRPr lang="en-US" sz="1100" dirty="0"/>
          </a:p>
        </p:txBody>
      </p:sp>
      <p:sp>
        <p:nvSpPr>
          <p:cNvPr id="12" name="Text 8"/>
          <p:cNvSpPr/>
          <p:nvPr/>
        </p:nvSpPr>
        <p:spPr>
          <a:xfrm>
            <a:off x="6243977" y="1303238"/>
            <a:ext cx="5292593" cy="475059"/>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Brand-level revenue is considerably more concentrated than product-level revenue. </a:t>
            </a:r>
            <a:pPr algn="l" indent="0" marL="0">
              <a:lnSpc>
                <a:spcPct val="114000"/>
              </a:lnSpc>
              <a:buNone/>
            </a:pPr>
            <a:r>
              <a:rPr lang="en-US" sz="900" b="1" dirty="0">
                <a:solidFill>
                  <a:srgbClr val="3C3939"/>
                </a:solidFill>
                <a:latin typeface="Roboto Bold" pitchFamily="34" charset="0"/>
                <a:ea typeface="Roboto Bold" pitchFamily="34" charset="-122"/>
                <a:cs typeface="Roboto Bold" pitchFamily="34" charset="-120"/>
              </a:rPr>
              <a:t>Kettle</a:t>
            </a:r>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 is the leading brand with </a:t>
            </a:r>
            <a:pPr algn="l" indent="0" marL="0">
              <a:lnSpc>
                <a:spcPct val="114000"/>
              </a:lnSpc>
              <a:buNone/>
            </a:pPr>
            <a:r>
              <a:rPr lang="en-US" sz="900" b="1" dirty="0">
                <a:solidFill>
                  <a:srgbClr val="3C3939"/>
                </a:solidFill>
                <a:latin typeface="Roboto Bold" pitchFamily="34" charset="0"/>
                <a:ea typeface="Roboto Bold" pitchFamily="34" charset="-122"/>
                <a:cs typeface="Roboto Bold" pitchFamily="34" charset="-120"/>
              </a:rPr>
              <a:t>$390,239.80</a:t>
            </a:r>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 in revenue, and the </a:t>
            </a:r>
            <a:pPr algn="l" indent="0" marL="0">
              <a:lnSpc>
                <a:spcPct val="114000"/>
              </a:lnSpc>
              <a:buNone/>
            </a:pPr>
            <a:r>
              <a:rPr lang="en-US" sz="900" b="1" dirty="0">
                <a:solidFill>
                  <a:srgbClr val="3C3939"/>
                </a:solidFill>
                <a:latin typeface="Roboto Bold" pitchFamily="34" charset="0"/>
                <a:ea typeface="Roboto Bold" pitchFamily="34" charset="-122"/>
                <a:cs typeface="Roboto Bold" pitchFamily="34" charset="-120"/>
              </a:rPr>
              <a:t>top five brands collectively contributed 55.3%</a:t>
            </a:r>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 of total category revenue.</a:t>
            </a:r>
            <a:endParaRPr lang="en-US" sz="900" dirty="0"/>
          </a:p>
        </p:txBody>
      </p:sp>
      <p:pic>
        <p:nvPicPr>
          <p:cNvPr id="13" name="Image 2" descr="preencoded.png">    </p:cNvPr>
          <p:cNvPicPr>
            <a:picLocks noChangeAspect="1"/>
          </p:cNvPicPr>
          <p:nvPr/>
        </p:nvPicPr>
        <p:blipFill>
          <a:blip r:embed="rId5"/>
          <a:stretch>
            <a:fillRect/>
          </a:stretch>
        </p:blipFill>
        <p:spPr>
          <a:xfrm>
            <a:off x="6243977" y="1870273"/>
            <a:ext cx="5292593" cy="3809702"/>
          </a:xfrm>
          <a:prstGeom prst="rect">
            <a:avLst/>
          </a:prstGeom>
        </p:spPr>
      </p:pic>
      <p:sp>
        <p:nvSpPr>
          <p:cNvPr id="14" name="Shape 9"/>
          <p:cNvSpPr/>
          <p:nvPr/>
        </p:nvSpPr>
        <p:spPr>
          <a:xfrm>
            <a:off x="6243977" y="5771952"/>
            <a:ext cx="5292593" cy="521891"/>
          </a:xfrm>
          <a:prstGeom prst="roundRect">
            <a:avLst>
              <a:gd name="adj" fmla="val 9359"/>
            </a:avLst>
          </a:prstGeom>
          <a:solidFill>
            <a:srgbClr val="E1E1EA"/>
          </a:solidFill>
          <a:ln/>
        </p:spPr>
      </p:sp>
      <p:pic>
        <p:nvPicPr>
          <p:cNvPr id="15" name="Image 3" descr="preencoded.png">    </p:cNvPr>
          <p:cNvPicPr>
            <a:picLocks noChangeAspect="1"/>
          </p:cNvPicPr>
          <p:nvPr/>
        </p:nvPicPr>
        <p:blipFill>
          <a:blip r:embed="rId6"/>
          <a:stretch>
            <a:fillRect/>
          </a:stretch>
        </p:blipFill>
        <p:spPr>
          <a:xfrm>
            <a:off x="6360259" y="5895280"/>
            <a:ext cx="145352" cy="116284"/>
          </a:xfrm>
          <a:prstGeom prst="rect">
            <a:avLst/>
          </a:prstGeom>
        </p:spPr>
      </p:pic>
      <p:sp>
        <p:nvSpPr>
          <p:cNvPr id="16" name="Text 10"/>
          <p:cNvSpPr/>
          <p:nvPr/>
        </p:nvSpPr>
        <p:spPr>
          <a:xfrm>
            <a:off x="6621892" y="5874544"/>
            <a:ext cx="4798396" cy="316706"/>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000000"/>
                </a:solidFill>
                <a:latin typeface="Roboto" pitchFamily="34" charset="0"/>
                <a:ea typeface="Roboto" pitchFamily="34" charset="-122"/>
                <a:cs typeface="Roboto" pitchFamily="34" charset="-120"/>
              </a:rPr>
              <a:t>Top 5 brands = 55.3% of total revenue. These brands require priority inventory, shelf visibility, and promotional support.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93514"/>
            <a:ext cx="10868745" cy="306784"/>
          </a:xfrm>
          <a:prstGeom prst="rect">
            <a:avLst/>
          </a:prstGeom>
          <a:noFill/>
          <a:ln/>
        </p:spPr>
        <p:txBody>
          <a:bodyPr wrap="none" lIns="0" tIns="0" rIns="0" bIns="0" rtlCol="0" anchor="t"/>
          <a:lstStyle/>
          <a:p>
            <a:pPr algn="l" indent="0" marL="0">
              <a:lnSpc>
                <a:spcPct val="104000"/>
              </a:lnSpc>
              <a:buNone/>
            </a:pPr>
            <a:r>
              <a:rPr lang="en-US" sz="1900" dirty="0">
                <a:solidFill>
                  <a:srgbClr val="1B1B27"/>
                </a:solidFill>
                <a:latin typeface="Raleway" pitchFamily="34" charset="0"/>
                <a:ea typeface="Raleway" pitchFamily="34" charset="-122"/>
                <a:cs typeface="Raleway" pitchFamily="34" charset="-120"/>
              </a:rPr>
              <a:t>Store &amp; Pack Size Performance</a:t>
            </a:r>
            <a:endParaRPr lang="en-US" sz="1900" dirty="0"/>
          </a:p>
        </p:txBody>
      </p:sp>
      <p:sp>
        <p:nvSpPr>
          <p:cNvPr id="3" name="Text 1"/>
          <p:cNvSpPr/>
          <p:nvPr/>
        </p:nvSpPr>
        <p:spPr>
          <a:xfrm>
            <a:off x="661475" y="945952"/>
            <a:ext cx="5314619" cy="153392"/>
          </a:xfrm>
          <a:prstGeom prst="rect">
            <a:avLst/>
          </a:prstGeom>
          <a:noFill/>
          <a:ln/>
        </p:spPr>
        <p:txBody>
          <a:bodyPr wrap="none" lIns="0" tIns="0" rIns="0" bIns="0" rtlCol="0" anchor="t"/>
          <a:lstStyle/>
          <a:p>
            <a:pPr algn="l" indent="0" marL="0">
              <a:lnSpc>
                <a:spcPct val="104000"/>
              </a:lnSpc>
              <a:buNone/>
            </a:pPr>
            <a:r>
              <a:rPr lang="en-US" sz="950" dirty="0">
                <a:solidFill>
                  <a:srgbClr val="1B1B27"/>
                </a:solidFill>
                <a:latin typeface="Raleway" pitchFamily="34" charset="0"/>
                <a:ea typeface="Raleway" pitchFamily="34" charset="-122"/>
                <a:cs typeface="Raleway" pitchFamily="34" charset="-120"/>
              </a:rPr>
              <a:t>Store Performance</a:t>
            </a:r>
            <a:endParaRPr lang="en-US" sz="950" dirty="0"/>
          </a:p>
        </p:txBody>
      </p:sp>
      <p:sp>
        <p:nvSpPr>
          <p:cNvPr id="4" name="Text 2"/>
          <p:cNvSpPr/>
          <p:nvPr/>
        </p:nvSpPr>
        <p:spPr>
          <a:xfrm>
            <a:off x="661475" y="1157585"/>
            <a:ext cx="5314619" cy="375642"/>
          </a:xfrm>
          <a:prstGeom prst="rect">
            <a:avLst/>
          </a:prstGeom>
          <a:noFill/>
          <a:ln/>
        </p:spPr>
        <p:txBody>
          <a:bodyPr wrap="square" lIns="0" tIns="0" rIns="0" bIns="0" rtlCol="0" anchor="t">
            <a:normAutofit/>
          </a:bodyPr>
          <a:lstStyle/>
          <a:p>
            <a:pPr algn="l" indent="0" marL="0">
              <a:lnSpc>
                <a:spcPct val="106000"/>
              </a:lnSpc>
              <a:buNone/>
            </a:pPr>
            <a:r>
              <a:rPr lang="en-US" sz="750" b="1" dirty="0">
                <a:solidFill>
                  <a:srgbClr val="3C3939"/>
                </a:solidFill>
                <a:latin typeface="Roboto Bold" pitchFamily="34" charset="0"/>
                <a:ea typeface="Roboto Bold" pitchFamily="34" charset="-122"/>
                <a:cs typeface="Roboto Bold" pitchFamily="34" charset="-120"/>
              </a:rPr>
              <a:t>Store 226</a:t>
            </a:r>
            <a:pPr algn="l" indent="0" marL="0">
              <a:lnSpc>
                <a:spcPct val="106000"/>
              </a:lnSpc>
              <a:buNone/>
            </a:pPr>
            <a:r>
              <a:rPr lang="en-US" sz="750" dirty="0">
                <a:solidFill>
                  <a:srgbClr val="3C3939"/>
                </a:solidFill>
                <a:latin typeface="Roboto" pitchFamily="34" charset="0"/>
                <a:ea typeface="Roboto" pitchFamily="34" charset="-122"/>
                <a:cs typeface="Roboto" pitchFamily="34" charset="-120"/>
              </a:rPr>
              <a:t> was the highest-revenue individual store, generating </a:t>
            </a:r>
            <a:pPr algn="l" indent="0" marL="0">
              <a:lnSpc>
                <a:spcPct val="106000"/>
              </a:lnSpc>
              <a:buNone/>
            </a:pPr>
            <a:r>
              <a:rPr lang="en-US" sz="750" b="1" dirty="0">
                <a:solidFill>
                  <a:srgbClr val="3C3939"/>
                </a:solidFill>
                <a:latin typeface="Roboto Bold" pitchFamily="34" charset="0"/>
                <a:ea typeface="Roboto Bold" pitchFamily="34" charset="-122"/>
                <a:cs typeface="Roboto Bold" pitchFamily="34" charset="-120"/>
              </a:rPr>
              <a:t>$18,905.45</a:t>
            </a:r>
            <a:pPr algn="l" indent="0" marL="0">
              <a:lnSpc>
                <a:spcPct val="106000"/>
              </a:lnSpc>
              <a:buNone/>
            </a:pPr>
            <a:r>
              <a:rPr lang="en-US" sz="750" dirty="0">
                <a:solidFill>
                  <a:srgbClr val="3C3939"/>
                </a:solidFill>
                <a:latin typeface="Roboto" pitchFamily="34" charset="0"/>
                <a:ea typeface="Roboto" pitchFamily="34" charset="-122"/>
                <a:cs typeface="Roboto" pitchFamily="34" charset="-120"/>
              </a:rPr>
              <a:t> across the analysis period. Store-level performance analysis enables targeted resource allocation, inventory planning, and promotional investment for high-volume locations.</a:t>
            </a:r>
            <a:endParaRPr lang="en-US" sz="750" dirty="0"/>
          </a:p>
        </p:txBody>
      </p:sp>
      <p:sp>
        <p:nvSpPr>
          <p:cNvPr id="5" name="Shape 3"/>
          <p:cNvSpPr/>
          <p:nvPr/>
        </p:nvSpPr>
        <p:spPr>
          <a:xfrm>
            <a:off x="661475" y="1598811"/>
            <a:ext cx="2628140" cy="545802"/>
          </a:xfrm>
          <a:prstGeom prst="roundRect">
            <a:avLst>
              <a:gd name="adj" fmla="val 7557"/>
            </a:avLst>
          </a:prstGeom>
          <a:solidFill>
            <a:srgbClr val="E1E1EA"/>
          </a:solidFill>
          <a:ln w="6350">
            <a:solidFill>
              <a:srgbClr val="C7C7D0"/>
            </a:solidFill>
            <a:prstDash val="solid"/>
          </a:ln>
        </p:spPr>
      </p:sp>
      <p:sp>
        <p:nvSpPr>
          <p:cNvPr id="6" name="Text 4"/>
          <p:cNvSpPr/>
          <p:nvPr/>
        </p:nvSpPr>
        <p:spPr>
          <a:xfrm>
            <a:off x="765950" y="1703288"/>
            <a:ext cx="2419190" cy="153392"/>
          </a:xfrm>
          <a:prstGeom prst="rect">
            <a:avLst/>
          </a:prstGeom>
          <a:noFill/>
          <a:ln/>
        </p:spPr>
        <p:txBody>
          <a:bodyPr wrap="none" lIns="0" tIns="0" rIns="0" bIns="0" rtlCol="0" anchor="t"/>
          <a:lstStyle/>
          <a:p>
            <a:pPr algn="l" indent="0" marL="0">
              <a:lnSpc>
                <a:spcPct val="104000"/>
              </a:lnSpc>
              <a:buNone/>
            </a:pPr>
            <a:r>
              <a:rPr lang="en-US" sz="950" dirty="0">
                <a:solidFill>
                  <a:srgbClr val="3C3939"/>
                </a:solidFill>
                <a:latin typeface="Raleway" pitchFamily="34" charset="0"/>
                <a:ea typeface="Raleway" pitchFamily="34" charset="-122"/>
                <a:cs typeface="Raleway" pitchFamily="34" charset="-120"/>
              </a:rPr>
              <a:t>Store 226</a:t>
            </a:r>
            <a:endParaRPr lang="en-US" sz="950" dirty="0"/>
          </a:p>
        </p:txBody>
      </p:sp>
      <p:sp>
        <p:nvSpPr>
          <p:cNvPr id="7" name="Text 5"/>
          <p:cNvSpPr/>
          <p:nvPr/>
        </p:nvSpPr>
        <p:spPr>
          <a:xfrm>
            <a:off x="765950" y="1914922"/>
            <a:ext cx="2419190" cy="125214"/>
          </a:xfrm>
          <a:prstGeom prst="rect">
            <a:avLst/>
          </a:prstGeom>
          <a:noFill/>
          <a:ln/>
        </p:spPr>
        <p:txBody>
          <a:bodyPr wrap="none" lIns="0" tIns="0" rIns="0" bIns="0" rtlCol="0" anchor="t"/>
          <a:lstStyle/>
          <a:p>
            <a:pPr algn="l" indent="0" marL="0">
              <a:lnSpc>
                <a:spcPct val="106000"/>
              </a:lnSpc>
              <a:buNone/>
            </a:pPr>
            <a:r>
              <a:rPr lang="en-US" sz="750" dirty="0">
                <a:solidFill>
                  <a:srgbClr val="3C3939"/>
                </a:solidFill>
                <a:latin typeface="Roboto" pitchFamily="34" charset="0"/>
                <a:ea typeface="Roboto" pitchFamily="34" charset="-122"/>
                <a:cs typeface="Roboto" pitchFamily="34" charset="-120"/>
              </a:rPr>
              <a:t>$18,905.45 — Highest-revenue store in the network</a:t>
            </a:r>
            <a:endParaRPr lang="en-US" sz="750" dirty="0"/>
          </a:p>
        </p:txBody>
      </p:sp>
      <p:sp>
        <p:nvSpPr>
          <p:cNvPr id="8" name="Shape 6"/>
          <p:cNvSpPr/>
          <p:nvPr/>
        </p:nvSpPr>
        <p:spPr>
          <a:xfrm>
            <a:off x="3347855" y="1598811"/>
            <a:ext cx="2628239" cy="545802"/>
          </a:xfrm>
          <a:prstGeom prst="roundRect">
            <a:avLst>
              <a:gd name="adj" fmla="val 7557"/>
            </a:avLst>
          </a:prstGeom>
          <a:solidFill>
            <a:srgbClr val="E1E1EA"/>
          </a:solidFill>
          <a:ln w="6350">
            <a:solidFill>
              <a:srgbClr val="C7C7D0"/>
            </a:solidFill>
            <a:prstDash val="solid"/>
          </a:ln>
        </p:spPr>
      </p:sp>
      <p:sp>
        <p:nvSpPr>
          <p:cNvPr id="9" name="Text 7"/>
          <p:cNvSpPr/>
          <p:nvPr/>
        </p:nvSpPr>
        <p:spPr>
          <a:xfrm>
            <a:off x="3452329" y="1703288"/>
            <a:ext cx="2419289" cy="153392"/>
          </a:xfrm>
          <a:prstGeom prst="rect">
            <a:avLst/>
          </a:prstGeom>
          <a:noFill/>
          <a:ln/>
        </p:spPr>
        <p:txBody>
          <a:bodyPr wrap="none" lIns="0" tIns="0" rIns="0" bIns="0" rtlCol="0" anchor="t"/>
          <a:lstStyle/>
          <a:p>
            <a:pPr algn="l" indent="0" marL="0">
              <a:lnSpc>
                <a:spcPct val="104000"/>
              </a:lnSpc>
              <a:buNone/>
            </a:pPr>
            <a:r>
              <a:rPr lang="en-US" sz="950" dirty="0">
                <a:solidFill>
                  <a:srgbClr val="3C3939"/>
                </a:solidFill>
                <a:latin typeface="Raleway" pitchFamily="34" charset="0"/>
                <a:ea typeface="Raleway" pitchFamily="34" charset="-122"/>
                <a:cs typeface="Raleway" pitchFamily="34" charset="-120"/>
              </a:rPr>
              <a:t>272 Stores</a:t>
            </a:r>
            <a:endParaRPr lang="en-US" sz="950" dirty="0"/>
          </a:p>
        </p:txBody>
      </p:sp>
      <p:sp>
        <p:nvSpPr>
          <p:cNvPr id="10" name="Text 8"/>
          <p:cNvSpPr/>
          <p:nvPr/>
        </p:nvSpPr>
        <p:spPr>
          <a:xfrm>
            <a:off x="3452329" y="1914922"/>
            <a:ext cx="2419289" cy="125214"/>
          </a:xfrm>
          <a:prstGeom prst="rect">
            <a:avLst/>
          </a:prstGeom>
          <a:noFill/>
          <a:ln/>
        </p:spPr>
        <p:txBody>
          <a:bodyPr wrap="none" lIns="0" tIns="0" rIns="0" bIns="0" rtlCol="0" anchor="t"/>
          <a:lstStyle/>
          <a:p>
            <a:pPr algn="l" indent="0" marL="0">
              <a:lnSpc>
                <a:spcPct val="106000"/>
              </a:lnSpc>
              <a:buNone/>
            </a:pPr>
            <a:r>
              <a:rPr lang="en-US" sz="750" dirty="0">
                <a:solidFill>
                  <a:srgbClr val="3C3939"/>
                </a:solidFill>
                <a:latin typeface="Roboto" pitchFamily="34" charset="0"/>
                <a:ea typeface="Roboto" pitchFamily="34" charset="-122"/>
                <a:cs typeface="Roboto" pitchFamily="34" charset="-120"/>
              </a:rPr>
              <a:t>Total network size included in the analysis</a:t>
            </a:r>
            <a:endParaRPr lang="en-US" sz="750" dirty="0"/>
          </a:p>
        </p:txBody>
      </p:sp>
      <p:sp>
        <p:nvSpPr>
          <p:cNvPr id="11" name="Shape 9"/>
          <p:cNvSpPr/>
          <p:nvPr/>
        </p:nvSpPr>
        <p:spPr>
          <a:xfrm>
            <a:off x="6151210" y="887710"/>
            <a:ext cx="5456101" cy="5476776"/>
          </a:xfrm>
          <a:prstGeom prst="roundRect">
            <a:avLst>
              <a:gd name="adj" fmla="val 1296"/>
            </a:avLst>
          </a:prstGeom>
          <a:solidFill>
            <a:srgbClr val="1B1B27">
              <a:alpha val="95000"/>
            </a:srgbClr>
          </a:solidFill>
          <a:ln/>
        </p:spPr>
      </p:sp>
      <p:sp>
        <p:nvSpPr>
          <p:cNvPr id="12" name="Text 10"/>
          <p:cNvSpPr/>
          <p:nvPr/>
        </p:nvSpPr>
        <p:spPr>
          <a:xfrm>
            <a:off x="6249335" y="945952"/>
            <a:ext cx="5259851" cy="153392"/>
          </a:xfrm>
          <a:prstGeom prst="rect">
            <a:avLst/>
          </a:prstGeom>
          <a:noFill/>
          <a:ln/>
        </p:spPr>
        <p:txBody>
          <a:bodyPr wrap="none" lIns="0" tIns="0" rIns="0" bIns="0" rtlCol="0" anchor="t"/>
          <a:lstStyle/>
          <a:p>
            <a:pPr algn="l" indent="0" marL="0">
              <a:lnSpc>
                <a:spcPct val="104000"/>
              </a:lnSpc>
              <a:buNone/>
            </a:pPr>
            <a:r>
              <a:rPr lang="en-US" sz="950" dirty="0">
                <a:solidFill>
                  <a:srgbClr val="FFFFFF"/>
                </a:solidFill>
                <a:latin typeface="Raleway" pitchFamily="34" charset="0"/>
                <a:ea typeface="Raleway" pitchFamily="34" charset="-122"/>
                <a:cs typeface="Raleway" pitchFamily="34" charset="-120"/>
              </a:rPr>
              <a:t>Pack Size Performance</a:t>
            </a:r>
            <a:endParaRPr lang="en-US" sz="950" dirty="0"/>
          </a:p>
        </p:txBody>
      </p:sp>
      <p:sp>
        <p:nvSpPr>
          <p:cNvPr id="13" name="Text 11"/>
          <p:cNvSpPr/>
          <p:nvPr/>
        </p:nvSpPr>
        <p:spPr>
          <a:xfrm>
            <a:off x="6249335" y="1157585"/>
            <a:ext cx="5259851" cy="250428"/>
          </a:xfrm>
          <a:prstGeom prst="rect">
            <a:avLst/>
          </a:prstGeom>
          <a:noFill/>
          <a:ln/>
        </p:spPr>
        <p:txBody>
          <a:bodyPr wrap="square" lIns="0" tIns="0" rIns="0" bIns="0" rtlCol="0" anchor="t">
            <a:normAutofit/>
          </a:bodyPr>
          <a:lstStyle/>
          <a:p>
            <a:pPr algn="l" indent="0" marL="0">
              <a:lnSpc>
                <a:spcPct val="106000"/>
              </a:lnSpc>
              <a:buNone/>
            </a:pPr>
            <a:r>
              <a:rPr lang="en-US" sz="750" dirty="0">
                <a:solidFill>
                  <a:srgbClr val="FFFFFF"/>
                </a:solidFill>
                <a:latin typeface="Roboto" pitchFamily="34" charset="0"/>
                <a:ea typeface="Roboto" pitchFamily="34" charset="-122"/>
                <a:cs typeface="Roboto" pitchFamily="34" charset="-120"/>
              </a:rPr>
              <a:t>Pack size analysis reveals a strong consumer preference for larger formats. </a:t>
            </a:r>
            <a:pPr algn="l" indent="0" marL="0">
              <a:lnSpc>
                <a:spcPct val="106000"/>
              </a:lnSpc>
              <a:buNone/>
            </a:pPr>
            <a:r>
              <a:rPr lang="en-US" sz="750" b="1" dirty="0">
                <a:solidFill>
                  <a:srgbClr val="FFFFFF"/>
                </a:solidFill>
                <a:latin typeface="Roboto Bold" pitchFamily="34" charset="0"/>
                <a:ea typeface="Roboto Bold" pitchFamily="34" charset="-122"/>
                <a:cs typeface="Roboto Bold" pitchFamily="34" charset="-120"/>
              </a:rPr>
              <a:t>175g products generated $477,112.40</a:t>
            </a:r>
            <a:pPr algn="l" indent="0" marL="0">
              <a:lnSpc>
                <a:spcPct val="106000"/>
              </a:lnSpc>
              <a:buNone/>
            </a:pPr>
            <a:r>
              <a:rPr lang="en-US" sz="750" dirty="0">
                <a:solidFill>
                  <a:srgbClr val="FFFFFF"/>
                </a:solidFill>
                <a:latin typeface="Roboto" pitchFamily="34" charset="0"/>
                <a:ea typeface="Roboto" pitchFamily="34" charset="-122"/>
                <a:cs typeface="Roboto" pitchFamily="34" charset="-120"/>
              </a:rPr>
              <a:t> — the highest revenue of any pack size — and </a:t>
            </a:r>
            <a:pPr algn="l" indent="0" marL="0">
              <a:lnSpc>
                <a:spcPct val="106000"/>
              </a:lnSpc>
              <a:buNone/>
            </a:pPr>
            <a:r>
              <a:rPr lang="en-US" sz="750" b="1" dirty="0">
                <a:solidFill>
                  <a:srgbClr val="FFFFFF"/>
                </a:solidFill>
                <a:latin typeface="Roboto Bold" pitchFamily="34" charset="0"/>
                <a:ea typeface="Roboto Bold" pitchFamily="34" charset="-122"/>
                <a:cs typeface="Roboto Bold" pitchFamily="34" charset="-120"/>
              </a:rPr>
              <a:t>products larger than 100g contributed approximately 97.2% of total revenue</a:t>
            </a:r>
            <a:pPr algn="l" indent="0" marL="0">
              <a:lnSpc>
                <a:spcPct val="106000"/>
              </a:lnSpc>
              <a:buNone/>
            </a:pPr>
            <a:r>
              <a:rPr lang="en-US" sz="750" dirty="0">
                <a:solidFill>
                  <a:srgbClr val="FFFFFF"/>
                </a:solidFill>
                <a:latin typeface="Roboto" pitchFamily="34" charset="0"/>
                <a:ea typeface="Roboto" pitchFamily="34" charset="-122"/>
                <a:cs typeface="Roboto" pitchFamily="34" charset="-120"/>
              </a:rPr>
              <a:t>.</a:t>
            </a:r>
            <a:endParaRPr lang="en-US" sz="750" dirty="0"/>
          </a:p>
        </p:txBody>
      </p:sp>
      <p:sp>
        <p:nvSpPr>
          <p:cNvPr id="14" name="Shape 12"/>
          <p:cNvSpPr/>
          <p:nvPr/>
        </p:nvSpPr>
        <p:spPr>
          <a:xfrm>
            <a:off x="6249335" y="1473597"/>
            <a:ext cx="2600756" cy="808930"/>
          </a:xfrm>
          <a:prstGeom prst="roundRect">
            <a:avLst>
              <a:gd name="adj" fmla="val 5099"/>
            </a:avLst>
          </a:prstGeom>
          <a:solidFill>
            <a:srgbClr val="1B1B27">
              <a:alpha val="95000"/>
            </a:srgbClr>
          </a:solidFill>
          <a:ln w="12700">
            <a:solidFill>
              <a:srgbClr val="C7C7D0"/>
            </a:solidFill>
            <a:prstDash val="solid"/>
          </a:ln>
        </p:spPr>
      </p:sp>
      <p:sp>
        <p:nvSpPr>
          <p:cNvPr id="15" name="Text 13"/>
          <p:cNvSpPr/>
          <p:nvPr/>
        </p:nvSpPr>
        <p:spPr>
          <a:xfrm>
            <a:off x="6360160" y="1584424"/>
            <a:ext cx="2379107" cy="153392"/>
          </a:xfrm>
          <a:prstGeom prst="rect">
            <a:avLst/>
          </a:prstGeom>
          <a:noFill/>
          <a:ln/>
        </p:spPr>
        <p:txBody>
          <a:bodyPr wrap="none" lIns="0" tIns="0" rIns="0" bIns="0" rtlCol="0" anchor="t"/>
          <a:lstStyle/>
          <a:p>
            <a:pPr algn="l" indent="0" marL="0">
              <a:lnSpc>
                <a:spcPct val="104000"/>
              </a:lnSpc>
              <a:buNone/>
            </a:pPr>
            <a:r>
              <a:rPr lang="en-US" sz="950" dirty="0">
                <a:solidFill>
                  <a:srgbClr val="FFFFFF"/>
                </a:solidFill>
                <a:latin typeface="Raleway" pitchFamily="34" charset="0"/>
                <a:ea typeface="Raleway" pitchFamily="34" charset="-122"/>
                <a:cs typeface="Raleway" pitchFamily="34" charset="-120"/>
              </a:rPr>
              <a:t>175g — $477,112.40</a:t>
            </a:r>
            <a:endParaRPr lang="en-US" sz="950" dirty="0"/>
          </a:p>
        </p:txBody>
      </p:sp>
      <p:sp>
        <p:nvSpPr>
          <p:cNvPr id="16" name="Text 14"/>
          <p:cNvSpPr/>
          <p:nvPr/>
        </p:nvSpPr>
        <p:spPr>
          <a:xfrm>
            <a:off x="6360160" y="1796058"/>
            <a:ext cx="2379107" cy="250428"/>
          </a:xfrm>
          <a:prstGeom prst="rect">
            <a:avLst/>
          </a:prstGeom>
          <a:noFill/>
          <a:ln/>
        </p:spPr>
        <p:txBody>
          <a:bodyPr wrap="square" lIns="0" tIns="0" rIns="0" bIns="0" rtlCol="0" anchor="t">
            <a:normAutofit/>
          </a:bodyPr>
          <a:lstStyle/>
          <a:p>
            <a:pPr algn="l" indent="0" marL="0">
              <a:lnSpc>
                <a:spcPct val="106000"/>
              </a:lnSpc>
              <a:buNone/>
            </a:pPr>
            <a:r>
              <a:rPr lang="en-US" sz="750" dirty="0">
                <a:solidFill>
                  <a:srgbClr val="FFFFFF"/>
                </a:solidFill>
                <a:latin typeface="Roboto" pitchFamily="34" charset="0"/>
                <a:ea typeface="Roboto" pitchFamily="34" charset="-122"/>
                <a:cs typeface="Roboto" pitchFamily="34" charset="-120"/>
              </a:rPr>
              <a:t>Highest-revenue pack size. Strong shelf placement and promotional visibility are critical for this format.</a:t>
            </a:r>
            <a:endParaRPr lang="en-US" sz="750" dirty="0"/>
          </a:p>
        </p:txBody>
      </p:sp>
      <p:sp>
        <p:nvSpPr>
          <p:cNvPr id="17" name="Shape 15"/>
          <p:cNvSpPr/>
          <p:nvPr/>
        </p:nvSpPr>
        <p:spPr>
          <a:xfrm>
            <a:off x="8908331" y="1473597"/>
            <a:ext cx="2600855" cy="808930"/>
          </a:xfrm>
          <a:prstGeom prst="roundRect">
            <a:avLst>
              <a:gd name="adj" fmla="val 5099"/>
            </a:avLst>
          </a:prstGeom>
          <a:solidFill>
            <a:srgbClr val="1B1B27">
              <a:alpha val="95000"/>
            </a:srgbClr>
          </a:solidFill>
          <a:ln w="12700">
            <a:solidFill>
              <a:srgbClr val="C7C7D0"/>
            </a:solidFill>
            <a:prstDash val="solid"/>
          </a:ln>
        </p:spPr>
      </p:sp>
      <p:sp>
        <p:nvSpPr>
          <p:cNvPr id="18" name="Text 16"/>
          <p:cNvSpPr/>
          <p:nvPr/>
        </p:nvSpPr>
        <p:spPr>
          <a:xfrm>
            <a:off x="9019156" y="1584424"/>
            <a:ext cx="2379206" cy="153392"/>
          </a:xfrm>
          <a:prstGeom prst="rect">
            <a:avLst/>
          </a:prstGeom>
          <a:noFill/>
          <a:ln/>
        </p:spPr>
        <p:txBody>
          <a:bodyPr wrap="none" lIns="0" tIns="0" rIns="0" bIns="0" rtlCol="0" anchor="t"/>
          <a:lstStyle/>
          <a:p>
            <a:pPr algn="l" indent="0" marL="0">
              <a:lnSpc>
                <a:spcPct val="104000"/>
              </a:lnSpc>
              <a:buNone/>
            </a:pPr>
            <a:r>
              <a:rPr lang="en-US" sz="950" dirty="0">
                <a:solidFill>
                  <a:srgbClr val="FFFFFF"/>
                </a:solidFill>
                <a:latin typeface="Raleway" pitchFamily="34" charset="0"/>
                <a:ea typeface="Raleway" pitchFamily="34" charset="-122"/>
                <a:cs typeface="Raleway" pitchFamily="34" charset="-120"/>
              </a:rPr>
              <a:t>97.2% from packs &gt;100g</a:t>
            </a:r>
            <a:endParaRPr lang="en-US" sz="950" dirty="0"/>
          </a:p>
        </p:txBody>
      </p:sp>
      <p:sp>
        <p:nvSpPr>
          <p:cNvPr id="19" name="Text 17"/>
          <p:cNvSpPr/>
          <p:nvPr/>
        </p:nvSpPr>
        <p:spPr>
          <a:xfrm>
            <a:off x="9019156" y="1796058"/>
            <a:ext cx="2379206" cy="375642"/>
          </a:xfrm>
          <a:prstGeom prst="rect">
            <a:avLst/>
          </a:prstGeom>
          <a:noFill/>
          <a:ln/>
        </p:spPr>
        <p:txBody>
          <a:bodyPr wrap="square" lIns="0" tIns="0" rIns="0" bIns="0" rtlCol="0" anchor="t">
            <a:normAutofit/>
          </a:bodyPr>
          <a:lstStyle/>
          <a:p>
            <a:pPr algn="l" indent="0" marL="0">
              <a:lnSpc>
                <a:spcPct val="106000"/>
              </a:lnSpc>
              <a:buNone/>
            </a:pPr>
            <a:r>
              <a:rPr lang="en-US" sz="750" dirty="0">
                <a:solidFill>
                  <a:srgbClr val="FFFFFF"/>
                </a:solidFill>
                <a:latin typeface="Roboto" pitchFamily="34" charset="0"/>
                <a:ea typeface="Roboto" pitchFamily="34" charset="-122"/>
                <a:cs typeface="Roboto" pitchFamily="34" charset="-120"/>
              </a:rPr>
              <a:t>Products larger than 100g dominate category revenue. Smaller pack sizes represent a negligible share of total sales.</a:t>
            </a:r>
            <a:endParaRPr lang="en-US" sz="750" dirty="0"/>
          </a:p>
        </p:txBody>
      </p:sp>
      <p:sp>
        <p:nvSpPr>
          <p:cNvPr id="20" name="Text 18"/>
          <p:cNvSpPr/>
          <p:nvPr/>
        </p:nvSpPr>
        <p:spPr>
          <a:xfrm>
            <a:off x="8275331" y="2986385"/>
            <a:ext cx="1207760" cy="245467"/>
          </a:xfrm>
          <a:prstGeom prst="rect">
            <a:avLst/>
          </a:prstGeom>
          <a:noFill/>
          <a:ln/>
        </p:spPr>
        <p:txBody>
          <a:bodyPr wrap="none" lIns="0" tIns="0" rIns="0" bIns="0" rtlCol="0" anchor="t"/>
          <a:lstStyle/>
          <a:p>
            <a:pPr algn="ctr" indent="0" marL="0">
              <a:lnSpc>
                <a:spcPct val="83000"/>
              </a:lnSpc>
              <a:buNone/>
            </a:pPr>
            <a:r>
              <a:rPr lang="en-US" sz="1900" dirty="0">
                <a:solidFill>
                  <a:srgbClr val="FFFFFF"/>
                </a:solidFill>
                <a:latin typeface="Raleway" pitchFamily="34" charset="0"/>
                <a:ea typeface="Raleway" pitchFamily="34" charset="-122"/>
                <a:cs typeface="Raleway" pitchFamily="34" charset="-120"/>
              </a:rPr>
              <a:t>97.2%</a:t>
            </a:r>
            <a:endParaRPr lang="en-US" sz="1900" dirty="0"/>
          </a:p>
        </p:txBody>
      </p:sp>
      <p:pic>
        <p:nvPicPr>
          <p:cNvPr id="21" name="Image 0" descr="preencoded.png">    </p:cNvPr>
          <p:cNvPicPr>
            <a:picLocks noChangeAspect="1"/>
          </p:cNvPicPr>
          <p:nvPr/>
        </p:nvPicPr>
        <p:blipFill>
          <a:blip r:embed="rId1"/>
          <a:stretch>
            <a:fillRect/>
          </a:stretch>
        </p:blipFill>
        <p:spPr>
          <a:xfrm>
            <a:off x="8142778" y="2372618"/>
            <a:ext cx="1472965" cy="1473002"/>
          </a:xfrm>
          <a:prstGeom prst="rect">
            <a:avLst/>
          </a:prstGeom>
        </p:spPr>
      </p:pic>
      <p:sp>
        <p:nvSpPr>
          <p:cNvPr id="22" name="Text 19"/>
          <p:cNvSpPr/>
          <p:nvPr/>
        </p:nvSpPr>
        <p:spPr>
          <a:xfrm>
            <a:off x="6249335" y="3928368"/>
            <a:ext cx="5259851" cy="153392"/>
          </a:xfrm>
          <a:prstGeom prst="rect">
            <a:avLst/>
          </a:prstGeom>
          <a:noFill/>
          <a:ln/>
        </p:spPr>
        <p:txBody>
          <a:bodyPr wrap="none" lIns="0" tIns="0" rIns="0" bIns="0" rtlCol="0" anchor="t"/>
          <a:lstStyle/>
          <a:p>
            <a:pPr algn="ctr" indent="0" marL="0">
              <a:lnSpc>
                <a:spcPct val="104000"/>
              </a:lnSpc>
              <a:buNone/>
            </a:pPr>
            <a:r>
              <a:rPr lang="en-US" sz="950" dirty="0">
                <a:solidFill>
                  <a:srgbClr val="FFFFFF"/>
                </a:solidFill>
                <a:latin typeface="Raleway" pitchFamily="34" charset="0"/>
                <a:ea typeface="Raleway" pitchFamily="34" charset="-122"/>
                <a:cs typeface="Raleway" pitchFamily="34" charset="-120"/>
              </a:rPr>
              <a:t>Revenue from &gt;100g Packs</a:t>
            </a:r>
            <a:endParaRPr lang="en-US" sz="950" dirty="0"/>
          </a:p>
        </p:txBody>
      </p:sp>
      <p:sp>
        <p:nvSpPr>
          <p:cNvPr id="23" name="Text 20"/>
          <p:cNvSpPr/>
          <p:nvPr/>
        </p:nvSpPr>
        <p:spPr>
          <a:xfrm>
            <a:off x="6249335" y="4140002"/>
            <a:ext cx="5259851" cy="125214"/>
          </a:xfrm>
          <a:prstGeom prst="rect">
            <a:avLst/>
          </a:prstGeom>
          <a:noFill/>
          <a:ln/>
        </p:spPr>
        <p:txBody>
          <a:bodyPr wrap="none" lIns="0" tIns="0" rIns="0" bIns="0" rtlCol="0" anchor="t"/>
          <a:lstStyle/>
          <a:p>
            <a:pPr algn="ctr" indent="0" marL="0">
              <a:lnSpc>
                <a:spcPct val="106000"/>
              </a:lnSpc>
              <a:buNone/>
            </a:pPr>
            <a:r>
              <a:rPr lang="en-US" sz="750" dirty="0">
                <a:solidFill>
                  <a:srgbClr val="FFFFFF"/>
                </a:solidFill>
                <a:latin typeface="Roboto" pitchFamily="34" charset="0"/>
                <a:ea typeface="Roboto" pitchFamily="34" charset="-122"/>
                <a:cs typeface="Roboto" pitchFamily="34" charset="-120"/>
              </a:rPr>
              <a:t>Larger formats overwhelmingly drive category value</a:t>
            </a:r>
            <a:endParaRPr lang="en-US" sz="750" dirty="0"/>
          </a:p>
        </p:txBody>
      </p:sp>
      <p:sp>
        <p:nvSpPr>
          <p:cNvPr id="24" name="Text 21"/>
          <p:cNvSpPr/>
          <p:nvPr/>
        </p:nvSpPr>
        <p:spPr>
          <a:xfrm>
            <a:off x="8275331" y="5020072"/>
            <a:ext cx="1207760" cy="245467"/>
          </a:xfrm>
          <a:prstGeom prst="rect">
            <a:avLst/>
          </a:prstGeom>
          <a:noFill/>
          <a:ln/>
        </p:spPr>
        <p:txBody>
          <a:bodyPr wrap="none" lIns="0" tIns="0" rIns="0" bIns="0" rtlCol="0" anchor="t"/>
          <a:lstStyle/>
          <a:p>
            <a:pPr algn="ctr" indent="0" marL="0">
              <a:lnSpc>
                <a:spcPct val="83000"/>
              </a:lnSpc>
              <a:buNone/>
            </a:pPr>
            <a:r>
              <a:rPr lang="en-US" sz="1900" dirty="0">
                <a:solidFill>
                  <a:srgbClr val="FFFFFF"/>
                </a:solidFill>
                <a:latin typeface="Raleway" pitchFamily="34" charset="0"/>
                <a:ea typeface="Raleway" pitchFamily="34" charset="-122"/>
                <a:cs typeface="Raleway" pitchFamily="34" charset="-120"/>
              </a:rPr>
              <a:t>2.8%</a:t>
            </a:r>
            <a:endParaRPr lang="en-US" sz="1900" dirty="0"/>
          </a:p>
        </p:txBody>
      </p:sp>
      <p:pic>
        <p:nvPicPr>
          <p:cNvPr id="25" name="Image 1" descr="preencoded.png">    </p:cNvPr>
          <p:cNvPicPr>
            <a:picLocks noChangeAspect="1"/>
          </p:cNvPicPr>
          <p:nvPr/>
        </p:nvPicPr>
        <p:blipFill>
          <a:blip r:embed="rId2"/>
          <a:stretch>
            <a:fillRect/>
          </a:stretch>
        </p:blipFill>
        <p:spPr>
          <a:xfrm>
            <a:off x="8142778" y="4406305"/>
            <a:ext cx="1472965" cy="1473002"/>
          </a:xfrm>
          <a:prstGeom prst="rect">
            <a:avLst/>
          </a:prstGeom>
        </p:spPr>
      </p:pic>
      <p:sp>
        <p:nvSpPr>
          <p:cNvPr id="26" name="Text 22"/>
          <p:cNvSpPr/>
          <p:nvPr/>
        </p:nvSpPr>
        <p:spPr>
          <a:xfrm>
            <a:off x="6249335" y="5962055"/>
            <a:ext cx="5259851" cy="153392"/>
          </a:xfrm>
          <a:prstGeom prst="rect">
            <a:avLst/>
          </a:prstGeom>
          <a:noFill/>
          <a:ln/>
        </p:spPr>
        <p:txBody>
          <a:bodyPr wrap="none" lIns="0" tIns="0" rIns="0" bIns="0" rtlCol="0" anchor="t"/>
          <a:lstStyle/>
          <a:p>
            <a:pPr algn="ctr" indent="0" marL="0">
              <a:lnSpc>
                <a:spcPct val="104000"/>
              </a:lnSpc>
              <a:buNone/>
            </a:pPr>
            <a:r>
              <a:rPr lang="en-US" sz="950" dirty="0">
                <a:solidFill>
                  <a:srgbClr val="FFFFFF"/>
                </a:solidFill>
                <a:latin typeface="Raleway" pitchFamily="34" charset="0"/>
                <a:ea typeface="Raleway" pitchFamily="34" charset="-122"/>
                <a:cs typeface="Raleway" pitchFamily="34" charset="-120"/>
              </a:rPr>
              <a:t>Revenue from ≤100g Packs</a:t>
            </a:r>
            <a:endParaRPr lang="en-US" sz="950" dirty="0"/>
          </a:p>
        </p:txBody>
      </p:sp>
      <p:sp>
        <p:nvSpPr>
          <p:cNvPr id="27" name="Text 23"/>
          <p:cNvSpPr/>
          <p:nvPr/>
        </p:nvSpPr>
        <p:spPr>
          <a:xfrm>
            <a:off x="6249335" y="6173688"/>
            <a:ext cx="5259851" cy="125214"/>
          </a:xfrm>
          <a:prstGeom prst="rect">
            <a:avLst/>
          </a:prstGeom>
          <a:noFill/>
          <a:ln/>
        </p:spPr>
        <p:txBody>
          <a:bodyPr wrap="none" lIns="0" tIns="0" rIns="0" bIns="0" rtlCol="0" anchor="t"/>
          <a:lstStyle/>
          <a:p>
            <a:pPr algn="ctr" indent="0" marL="0">
              <a:lnSpc>
                <a:spcPct val="106000"/>
              </a:lnSpc>
              <a:buNone/>
            </a:pPr>
            <a:r>
              <a:rPr lang="en-US" sz="750" dirty="0">
                <a:solidFill>
                  <a:srgbClr val="FFFFFF"/>
                </a:solidFill>
                <a:latin typeface="Roboto" pitchFamily="34" charset="0"/>
                <a:ea typeface="Roboto" pitchFamily="34" charset="-122"/>
                <a:cs typeface="Roboto" pitchFamily="34" charset="-120"/>
              </a:rPr>
              <a:t>Small formats contribute minimally to total revenue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13854"/>
            <a:ext cx="10868745" cy="419894"/>
          </a:xfrm>
          <a:prstGeom prst="rect">
            <a:avLst/>
          </a:prstGeom>
          <a:noFill/>
          <a:ln/>
        </p:spPr>
        <p:txBody>
          <a:bodyPr wrap="none" lIns="0" tIns="0" rIns="0" bIns="0" rtlCol="0" anchor="t"/>
          <a:lstStyle/>
          <a:p>
            <a:pPr algn="l" indent="0" marL="0">
              <a:lnSpc>
                <a:spcPct val="104000"/>
              </a:lnSpc>
              <a:buNone/>
            </a:pPr>
            <a:r>
              <a:rPr lang="en-US" sz="2600" dirty="0">
                <a:solidFill>
                  <a:srgbClr val="1B1B27"/>
                </a:solidFill>
                <a:latin typeface="Raleway" pitchFamily="34" charset="0"/>
                <a:ea typeface="Raleway" pitchFamily="34" charset="-122"/>
                <a:cs typeface="Raleway" pitchFamily="34" charset="-120"/>
              </a:rPr>
              <a:t>Day-of-Week &amp; Revenue Concentration Analysis</a:t>
            </a:r>
            <a:endParaRPr lang="en-US" sz="2600" dirty="0"/>
          </a:p>
        </p:txBody>
      </p:sp>
      <p:sp>
        <p:nvSpPr>
          <p:cNvPr id="3" name="Text 1"/>
          <p:cNvSpPr/>
          <p:nvPr/>
        </p:nvSpPr>
        <p:spPr>
          <a:xfrm>
            <a:off x="661475" y="1206599"/>
            <a:ext cx="5270467" cy="209947"/>
          </a:xfrm>
          <a:prstGeom prst="rect">
            <a:avLst/>
          </a:prstGeom>
          <a:noFill/>
          <a:ln/>
        </p:spPr>
        <p:txBody>
          <a:bodyPr wrap="none" lIns="0" tIns="0" rIns="0" bIns="0" rtlCol="0" anchor="t"/>
          <a:lstStyle/>
          <a:p>
            <a:pPr algn="l" indent="0" marL="0">
              <a:lnSpc>
                <a:spcPct val="104000"/>
              </a:lnSpc>
              <a:buNone/>
            </a:pPr>
            <a:r>
              <a:rPr lang="en-US" sz="1300" dirty="0">
                <a:solidFill>
                  <a:srgbClr val="1B1B27"/>
                </a:solidFill>
                <a:latin typeface="Raleway" pitchFamily="34" charset="0"/>
                <a:ea typeface="Raleway" pitchFamily="34" charset="-122"/>
                <a:cs typeface="Raleway" pitchFamily="34" charset="-120"/>
              </a:rPr>
              <a:t>Day-of-Week Revenue Distribution</a:t>
            </a:r>
            <a:endParaRPr lang="en-US" sz="1300" dirty="0"/>
          </a:p>
        </p:txBody>
      </p:sp>
      <p:sp>
        <p:nvSpPr>
          <p:cNvPr id="4" name="Text 2"/>
          <p:cNvSpPr/>
          <p:nvPr/>
        </p:nvSpPr>
        <p:spPr>
          <a:xfrm>
            <a:off x="661475" y="1525687"/>
            <a:ext cx="5270467" cy="779066"/>
          </a:xfrm>
          <a:prstGeom prst="rect">
            <a:avLst/>
          </a:prstGeom>
          <a:noFill/>
          <a:ln/>
        </p:spPr>
        <p:txBody>
          <a:bodyPr wrap="square" lIns="0" tIns="0" rIns="0" bIns="0" rtlCol="0" anchor="t">
            <a:normAutofit/>
          </a:bodyPr>
          <a:lstStyle/>
          <a:p>
            <a:pPr algn="l" indent="0" marL="0">
              <a:lnSpc>
                <a:spcPct val="121000"/>
              </a:lnSpc>
              <a:buNone/>
            </a:pPr>
            <a:r>
              <a:rPr lang="en-US" sz="1050" b="1" dirty="0">
                <a:solidFill>
                  <a:srgbClr val="3C3939"/>
                </a:solidFill>
                <a:latin typeface="Roboto Bold" pitchFamily="34" charset="0"/>
                <a:ea typeface="Roboto Bold" pitchFamily="34" charset="-122"/>
                <a:cs typeface="Roboto Bold" pitchFamily="34" charset="-120"/>
              </a:rPr>
              <a:t>Sunday is the highest-revenue day</a:t>
            </a:r>
            <a:pPr algn="l" indent="0" marL="0">
              <a:lnSpc>
                <a:spcPct val="121000"/>
              </a:lnSpc>
              <a:buNone/>
            </a:pPr>
            <a:r>
              <a:rPr lang="en-US" sz="1050" dirty="0">
                <a:solidFill>
                  <a:srgbClr val="3C3939"/>
                </a:solidFill>
                <a:latin typeface="Roboto" pitchFamily="34" charset="0"/>
                <a:ea typeface="Roboto" pitchFamily="34" charset="-122"/>
                <a:cs typeface="Roboto" pitchFamily="34" charset="-120"/>
              </a:rPr>
              <a:t> at $283,229.10, while </a:t>
            </a:r>
            <a:pPr algn="l" indent="0" marL="0">
              <a:lnSpc>
                <a:spcPct val="121000"/>
              </a:lnSpc>
              <a:buNone/>
            </a:pPr>
            <a:r>
              <a:rPr lang="en-US" sz="1050" b="1" dirty="0">
                <a:solidFill>
                  <a:srgbClr val="3C3939"/>
                </a:solidFill>
                <a:latin typeface="Roboto Bold" pitchFamily="34" charset="0"/>
                <a:ea typeface="Roboto Bold" pitchFamily="34" charset="-122"/>
                <a:cs typeface="Roboto Bold" pitchFamily="34" charset="-120"/>
              </a:rPr>
              <a:t>Tuesday is the lowest</a:t>
            </a:r>
            <a:pPr algn="l" indent="0" marL="0">
              <a:lnSpc>
                <a:spcPct val="121000"/>
              </a:lnSpc>
              <a:buNone/>
            </a:pPr>
            <a:r>
              <a:rPr lang="en-US" sz="1050" dirty="0">
                <a:solidFill>
                  <a:srgbClr val="3C3939"/>
                </a:solidFill>
                <a:latin typeface="Roboto" pitchFamily="34" charset="0"/>
                <a:ea typeface="Roboto" pitchFamily="34" charset="-122"/>
                <a:cs typeface="Roboto" pitchFamily="34" charset="-120"/>
              </a:rPr>
              <a:t> at $270,644.00 — a difference of approximately $12,585. Weekend days (Saturday and Sunday) collectively account for </a:t>
            </a:r>
            <a:pPr algn="l" indent="0" marL="0">
              <a:lnSpc>
                <a:spcPct val="121000"/>
              </a:lnSpc>
              <a:buNone/>
            </a:pPr>
            <a:r>
              <a:rPr lang="en-US" sz="1050" b="1" dirty="0">
                <a:solidFill>
                  <a:srgbClr val="3C3939"/>
                </a:solidFill>
                <a:latin typeface="Roboto Bold" pitchFamily="34" charset="0"/>
                <a:ea typeface="Roboto Bold" pitchFamily="34" charset="-122"/>
                <a:cs typeface="Roboto Bold" pitchFamily="34" charset="-120"/>
              </a:rPr>
              <a:t>28.9% of total weekly revenue</a:t>
            </a:r>
            <a:pPr algn="l" indent="0" marL="0">
              <a:lnSpc>
                <a:spcPct val="121000"/>
              </a:lnSpc>
              <a:buNone/>
            </a:pPr>
            <a:r>
              <a:rPr lang="en-US" sz="1050" dirty="0">
                <a:solidFill>
                  <a:srgbClr val="3C3939"/>
                </a:solidFill>
                <a:latin typeface="Roboto" pitchFamily="34" charset="0"/>
                <a:ea typeface="Roboto" pitchFamily="34" charset="-122"/>
                <a:cs typeface="Roboto" pitchFamily="34" charset="-120"/>
              </a:rPr>
              <a:t>, consistent with higher consumer footfall during non-working days.</a:t>
            </a:r>
            <a:endParaRPr lang="en-US" sz="1050" dirty="0"/>
          </a:p>
        </p:txBody>
      </p:sp>
      <p:pic>
        <p:nvPicPr>
          <p:cNvPr id="5" name="Image 0" descr="preencoded.png">    </p:cNvPr>
          <p:cNvPicPr>
            <a:picLocks noChangeAspect="1"/>
          </p:cNvPicPr>
          <p:nvPr/>
        </p:nvPicPr>
        <p:blipFill>
          <a:blip r:embed="rId1"/>
          <a:stretch>
            <a:fillRect/>
          </a:stretch>
        </p:blipFill>
        <p:spPr>
          <a:xfrm>
            <a:off x="661475" y="2427585"/>
            <a:ext cx="5270467" cy="3793728"/>
          </a:xfrm>
          <a:prstGeom prst="rect">
            <a:avLst/>
          </a:prstGeom>
        </p:spPr>
      </p:pic>
      <p:sp>
        <p:nvSpPr>
          <p:cNvPr id="6" name="Text 3"/>
          <p:cNvSpPr/>
          <p:nvPr/>
        </p:nvSpPr>
        <p:spPr>
          <a:xfrm>
            <a:off x="6266103" y="1206599"/>
            <a:ext cx="5270467" cy="209947"/>
          </a:xfrm>
          <a:prstGeom prst="rect">
            <a:avLst/>
          </a:prstGeom>
          <a:noFill/>
          <a:ln/>
        </p:spPr>
        <p:txBody>
          <a:bodyPr wrap="none" lIns="0" tIns="0" rIns="0" bIns="0" rtlCol="0" anchor="t"/>
          <a:lstStyle/>
          <a:p>
            <a:pPr algn="l" indent="0" marL="0">
              <a:lnSpc>
                <a:spcPct val="104000"/>
              </a:lnSpc>
              <a:buNone/>
            </a:pPr>
            <a:r>
              <a:rPr lang="en-US" sz="1300" dirty="0">
                <a:solidFill>
                  <a:srgbClr val="1B1B27"/>
                </a:solidFill>
                <a:latin typeface="Raleway" pitchFamily="34" charset="0"/>
                <a:ea typeface="Raleway" pitchFamily="34" charset="-122"/>
                <a:cs typeface="Raleway" pitchFamily="34" charset="-120"/>
              </a:rPr>
              <a:t>Revenue Concentration Summary</a:t>
            </a:r>
            <a:endParaRPr lang="en-US" sz="1300" dirty="0"/>
          </a:p>
        </p:txBody>
      </p:sp>
      <p:sp>
        <p:nvSpPr>
          <p:cNvPr id="7" name="Text 4"/>
          <p:cNvSpPr/>
          <p:nvPr/>
        </p:nvSpPr>
        <p:spPr>
          <a:xfrm>
            <a:off x="6266103" y="1525687"/>
            <a:ext cx="5270467"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C3939"/>
                </a:solidFill>
                <a:latin typeface="Roboto" pitchFamily="34" charset="0"/>
                <a:ea typeface="Roboto" pitchFamily="34" charset="-122"/>
                <a:cs typeface="Roboto" pitchFamily="34" charset="-120"/>
              </a:rPr>
              <a:t>Revenue concentration differs markedly between brand and product levels, reflecting the structural dynamics of the chips category.</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266103" y="2038052"/>
          <a:ext cx="9143771" cy="914400"/>
        </p:xfrm>
        <a:graphic>
          <a:graphicData uri="http://schemas.openxmlformats.org/drawingml/2006/table">
            <a:tbl>
              <a:tblPr/>
              <a:tblGrid>
                <a:gridCol w="2635234"/>
                <a:gridCol w="2635234"/>
              </a:tblGrid>
              <a:tr h="341602">
                <a:tc>
                  <a:txBody>
                    <a:bodyPr/>
                    <a:lstStyle/>
                    <a:p>
                      <a:pPr indent="0" marL="0">
                        <a:buNone/>
                      </a:pPr>
                      <a:r>
                        <a:rPr lang="en-US" sz="1050" b="1" dirty="0">
                          <a:solidFill>
                            <a:srgbClr val="3C3939"/>
                          </a:solidFill>
                          <a:latin typeface="Roboto" pitchFamily="34" charset="0"/>
                          <a:ea typeface="Roboto" pitchFamily="34" charset="-122"/>
                          <a:cs typeface="Roboto" pitchFamily="34" charset="-120"/>
                        </a:rPr>
                        <a:t>Metric</a:t>
                      </a:r>
                      <a:endParaRPr lang="en-US" sz="1050" dirty="0">
                        <a:latin typeface="Roboto" charset="0"/>
                        <a:ea typeface="Roboto" charset="0"/>
                        <a:cs typeface="Roboto" charset="0"/>
                      </a:endParaRPr>
                    </a:p>
                  </a:txBody>
                  <a:tcPr marL="134380" marR="134380"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b="1" dirty="0">
                          <a:solidFill>
                            <a:srgbClr val="3C3939"/>
                          </a:solidFill>
                          <a:latin typeface="Roboto" pitchFamily="34" charset="0"/>
                          <a:ea typeface="Roboto" pitchFamily="34" charset="-122"/>
                          <a:cs typeface="Roboto" pitchFamily="34" charset="-120"/>
                        </a:rPr>
                        <a:t>Revenue Share</a:t>
                      </a:r>
                      <a:endParaRPr lang="en-US" sz="1050" dirty="0">
                        <a:latin typeface="Roboto" charset="0"/>
                        <a:ea typeface="Roboto" charset="0"/>
                        <a:cs typeface="Roboto" charset="0"/>
                      </a:endParaRPr>
                    </a:p>
                  </a:txBody>
                  <a:tcPr marL="134380" marR="134380"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44777">
                <a:tc>
                  <a:txBody>
                    <a:bodyPr/>
                    <a:lstStyle/>
                    <a:p>
                      <a:pPr indent="0" marL="0">
                        <a:buNone/>
                      </a:pPr>
                      <a:r>
                        <a:rPr lang="en-US" sz="1050" dirty="0">
                          <a:solidFill>
                            <a:srgbClr val="3C3939"/>
                          </a:solidFill>
                          <a:latin typeface="Roboto" pitchFamily="34" charset="0"/>
                          <a:ea typeface="Roboto" pitchFamily="34" charset="-122"/>
                          <a:cs typeface="Roboto" pitchFamily="34" charset="-120"/>
                        </a:rPr>
                        <a:t>Top 5 Brands</a:t>
                      </a:r>
                      <a:endParaRPr lang="en-US" sz="1050" dirty="0">
                        <a:latin typeface="Roboto" charset="0"/>
                        <a:ea typeface="Roboto" charset="0"/>
                        <a:cs typeface="Roboto" charset="0"/>
                      </a:endParaRPr>
                    </a:p>
                  </a:txBody>
                  <a:tcPr marL="134380" marR="134380"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b="1" dirty="0">
                          <a:solidFill>
                            <a:srgbClr val="3C3939"/>
                          </a:solidFill>
                          <a:latin typeface="Roboto" pitchFamily="34" charset="0"/>
                          <a:ea typeface="Roboto" pitchFamily="34" charset="-122"/>
                          <a:cs typeface="Roboto" pitchFamily="34" charset="-120"/>
                        </a:rPr>
                        <a:t>55.3%</a:t>
                      </a:r>
                      <a:endParaRPr lang="en-US" sz="1050" dirty="0">
                        <a:latin typeface="Roboto" charset="0"/>
                        <a:ea typeface="Roboto" charset="0"/>
                        <a:cs typeface="Roboto" charset="0"/>
                      </a:endParaRPr>
                    </a:p>
                  </a:txBody>
                  <a:tcPr marL="134380" marR="134380"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44777">
                <a:tc>
                  <a:txBody>
                    <a:bodyPr/>
                    <a:lstStyle/>
                    <a:p>
                      <a:pPr indent="0" marL="0">
                        <a:buNone/>
                      </a:pPr>
                      <a:r>
                        <a:rPr lang="en-US" sz="1050" dirty="0">
                          <a:solidFill>
                            <a:srgbClr val="3C3939"/>
                          </a:solidFill>
                          <a:latin typeface="Roboto" pitchFamily="34" charset="0"/>
                          <a:ea typeface="Roboto" pitchFamily="34" charset="-122"/>
                          <a:cs typeface="Roboto" pitchFamily="34" charset="-120"/>
                        </a:rPr>
                        <a:t>Top 10 Products</a:t>
                      </a:r>
                      <a:endParaRPr lang="en-US" sz="1050" dirty="0">
                        <a:latin typeface="Roboto" charset="0"/>
                        <a:ea typeface="Roboto" charset="0"/>
                        <a:cs typeface="Roboto" charset="0"/>
                      </a:endParaRPr>
                    </a:p>
                  </a:txBody>
                  <a:tcPr marL="134380" marR="134380"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b="1" dirty="0">
                          <a:solidFill>
                            <a:srgbClr val="3C3939"/>
                          </a:solidFill>
                          <a:latin typeface="Roboto" pitchFamily="34" charset="0"/>
                          <a:ea typeface="Roboto" pitchFamily="34" charset="-122"/>
                          <a:cs typeface="Roboto" pitchFamily="34" charset="-120"/>
                        </a:rPr>
                        <a:t>17.9%</a:t>
                      </a:r>
                      <a:endParaRPr lang="en-US" sz="1050" dirty="0">
                        <a:latin typeface="Roboto" charset="0"/>
                        <a:ea typeface="Roboto" charset="0"/>
                        <a:cs typeface="Roboto" charset="0"/>
                      </a:endParaRPr>
                    </a:p>
                  </a:txBody>
                  <a:tcPr marL="134380" marR="134380"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44777">
                <a:tc>
                  <a:txBody>
                    <a:bodyPr/>
                    <a:lstStyle/>
                    <a:p>
                      <a:pPr indent="0" marL="0">
                        <a:buNone/>
                      </a:pPr>
                      <a:r>
                        <a:rPr lang="en-US" sz="1050" dirty="0">
                          <a:solidFill>
                            <a:srgbClr val="3C3939"/>
                          </a:solidFill>
                          <a:latin typeface="Roboto" pitchFamily="34" charset="0"/>
                          <a:ea typeface="Roboto" pitchFamily="34" charset="-122"/>
                          <a:cs typeface="Roboto" pitchFamily="34" charset="-120"/>
                        </a:rPr>
                        <a:t>Top 1 Product</a:t>
                      </a:r>
                      <a:endParaRPr lang="en-US" sz="1050" dirty="0">
                        <a:latin typeface="Roboto" charset="0"/>
                        <a:ea typeface="Roboto" charset="0"/>
                        <a:cs typeface="Roboto" charset="0"/>
                      </a:endParaRPr>
                    </a:p>
                  </a:txBody>
                  <a:tcPr marL="134380" marR="134380"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b="1" dirty="0">
                          <a:solidFill>
                            <a:srgbClr val="3C3939"/>
                          </a:solidFill>
                          <a:latin typeface="Roboto" pitchFamily="34" charset="0"/>
                          <a:ea typeface="Roboto" pitchFamily="34" charset="-122"/>
                          <a:cs typeface="Roboto" pitchFamily="34" charset="-120"/>
                        </a:rPr>
                        <a:t>2.1%</a:t>
                      </a:r>
                      <a:endParaRPr lang="en-US" sz="1050" dirty="0">
                        <a:latin typeface="Roboto" charset="0"/>
                        <a:ea typeface="Roboto" charset="0"/>
                        <a:cs typeface="Roboto" charset="0"/>
                      </a:endParaRPr>
                    </a:p>
                  </a:txBody>
                  <a:tcPr marL="134380" marR="134380"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41602">
                <a:tc>
                  <a:txBody>
                    <a:bodyPr/>
                    <a:lstStyle/>
                    <a:p>
                      <a:pPr indent="0" marL="0">
                        <a:buNone/>
                      </a:pPr>
                      <a:r>
                        <a:rPr lang="en-US" sz="1050" dirty="0">
                          <a:solidFill>
                            <a:srgbClr val="3C3939"/>
                          </a:solidFill>
                          <a:latin typeface="Roboto" pitchFamily="34" charset="0"/>
                          <a:ea typeface="Roboto" pitchFamily="34" charset="-122"/>
                          <a:cs typeface="Roboto" pitchFamily="34" charset="-120"/>
                        </a:rPr>
                        <a:t>Weekend Revenue</a:t>
                      </a:r>
                      <a:endParaRPr lang="en-US" sz="1050" dirty="0">
                        <a:latin typeface="Roboto" charset="0"/>
                        <a:ea typeface="Roboto" charset="0"/>
                        <a:cs typeface="Roboto" charset="0"/>
                      </a:endParaRPr>
                    </a:p>
                  </a:txBody>
                  <a:tcPr marL="134380" marR="134380"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050" b="1" dirty="0">
                          <a:solidFill>
                            <a:srgbClr val="3C3939"/>
                          </a:solidFill>
                          <a:latin typeface="Roboto" pitchFamily="34" charset="0"/>
                          <a:ea typeface="Roboto" pitchFamily="34" charset="-122"/>
                          <a:cs typeface="Roboto" pitchFamily="34" charset="-120"/>
                        </a:rPr>
                        <a:t>28.9%</a:t>
                      </a:r>
                      <a:endParaRPr lang="en-US" sz="1050" dirty="0">
                        <a:latin typeface="Roboto" charset="0"/>
                        <a:ea typeface="Roboto" charset="0"/>
                        <a:cs typeface="Roboto" charset="0"/>
                      </a:endParaRPr>
                    </a:p>
                  </a:txBody>
                  <a:tcPr marL="134380" marR="134380"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bl>
          </a:graphicData>
        </a:graphic>
      </p:graphicFrame>
      <p:sp>
        <p:nvSpPr>
          <p:cNvPr id="9" name="Shape 5"/>
          <p:cNvSpPr/>
          <p:nvPr/>
        </p:nvSpPr>
        <p:spPr>
          <a:xfrm>
            <a:off x="6266103" y="3891161"/>
            <a:ext cx="5270467" cy="1042591"/>
          </a:xfrm>
          <a:prstGeom prst="roundRect">
            <a:avLst>
              <a:gd name="adj" fmla="val 5413"/>
            </a:avLst>
          </a:prstGeom>
          <a:solidFill>
            <a:srgbClr val="E1E1EA"/>
          </a:solidFill>
          <a:ln/>
        </p:spPr>
      </p:sp>
      <p:pic>
        <p:nvPicPr>
          <p:cNvPr id="10" name="Image 1" descr="preencoded.png">    </p:cNvPr>
          <p:cNvPicPr>
            <a:picLocks noChangeAspect="1"/>
          </p:cNvPicPr>
          <p:nvPr/>
        </p:nvPicPr>
        <p:blipFill>
          <a:blip r:embed="rId2"/>
          <a:stretch>
            <a:fillRect/>
          </a:stretch>
        </p:blipFill>
        <p:spPr>
          <a:xfrm>
            <a:off x="6400441" y="4055963"/>
            <a:ext cx="167973" cy="134342"/>
          </a:xfrm>
          <a:prstGeom prst="rect">
            <a:avLst/>
          </a:prstGeom>
        </p:spPr>
      </p:pic>
      <p:sp>
        <p:nvSpPr>
          <p:cNvPr id="11" name="Text 6"/>
          <p:cNvSpPr/>
          <p:nvPr/>
        </p:nvSpPr>
        <p:spPr>
          <a:xfrm>
            <a:off x="6702753" y="4022923"/>
            <a:ext cx="4699478" cy="779066"/>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000000"/>
                </a:solidFill>
                <a:latin typeface="Roboto" pitchFamily="34" charset="0"/>
                <a:ea typeface="Roboto" pitchFamily="34" charset="-122"/>
                <a:cs typeface="Roboto" pitchFamily="34" charset="-120"/>
              </a:rPr>
              <a:t>Brand-level revenue is considerably more concentrated than product-level revenue. The top 5 brands account for more than half of all category revenue, while no single product exceeds 2.1% — indicating a fragmented but brand-loyal product landscape.</a:t>
            </a:r>
            <a:endParaRPr lang="en-US" sz="1050" dirty="0"/>
          </a:p>
        </p:txBody>
      </p:sp>
      <p:pic>
        <p:nvPicPr>
          <p:cNvPr id="12"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66103" y="5056584"/>
            <a:ext cx="2580615" cy="1015405"/>
          </a:xfrm>
          <a:prstGeom prst="rect">
            <a:avLst/>
          </a:prstGeom>
        </p:spPr>
      </p:pic>
      <p:sp>
        <p:nvSpPr>
          <p:cNvPr id="13" name="Text 7"/>
          <p:cNvSpPr/>
          <p:nvPr/>
        </p:nvSpPr>
        <p:spPr>
          <a:xfrm>
            <a:off x="6495689" y="5209977"/>
            <a:ext cx="2197640" cy="209947"/>
          </a:xfrm>
          <a:prstGeom prst="rect">
            <a:avLst/>
          </a:prstGeom>
          <a:noFill/>
          <a:ln/>
        </p:spPr>
        <p:txBody>
          <a:bodyPr wrap="none" lIns="0" tIns="0" rIns="0" bIns="0" rtlCol="0" anchor="t"/>
          <a:lstStyle/>
          <a:p>
            <a:pPr algn="l" indent="0" marL="0">
              <a:lnSpc>
                <a:spcPct val="104000"/>
              </a:lnSpc>
              <a:buNone/>
            </a:pPr>
            <a:r>
              <a:rPr lang="en-US" sz="1300" dirty="0">
                <a:solidFill>
                  <a:srgbClr val="3C3939"/>
                </a:solidFill>
                <a:latin typeface="Raleway" pitchFamily="34" charset="0"/>
                <a:ea typeface="Raleway" pitchFamily="34" charset="-122"/>
                <a:cs typeface="Raleway" pitchFamily="34" charset="-120"/>
              </a:rPr>
              <a:t>Sunday: $283,229.10</a:t>
            </a:r>
            <a:endParaRPr lang="en-US" sz="1300" dirty="0"/>
          </a:p>
        </p:txBody>
      </p:sp>
      <p:sp>
        <p:nvSpPr>
          <p:cNvPr id="14" name="Text 8"/>
          <p:cNvSpPr/>
          <p:nvPr/>
        </p:nvSpPr>
        <p:spPr>
          <a:xfrm>
            <a:off x="6495689" y="5529064"/>
            <a:ext cx="2197640"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C3939"/>
                </a:solidFill>
                <a:latin typeface="Roboto" pitchFamily="34" charset="0"/>
                <a:ea typeface="Roboto" pitchFamily="34" charset="-122"/>
                <a:cs typeface="Roboto" pitchFamily="34" charset="-120"/>
              </a:rPr>
              <a:t>Highest-revenue day — peak consumer shopping activity</a:t>
            </a:r>
            <a:endParaRPr lang="en-US" sz="1050" dirty="0"/>
          </a:p>
        </p:txBody>
      </p:sp>
      <p:pic>
        <p:nvPicPr>
          <p:cNvPr id="15"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55856" y="5056584"/>
            <a:ext cx="2580714" cy="1015405"/>
          </a:xfrm>
          <a:prstGeom prst="rect">
            <a:avLst/>
          </a:prstGeom>
        </p:spPr>
      </p:pic>
      <p:sp>
        <p:nvSpPr>
          <p:cNvPr id="16" name="Text 9"/>
          <p:cNvSpPr/>
          <p:nvPr/>
        </p:nvSpPr>
        <p:spPr>
          <a:xfrm>
            <a:off x="9185442" y="5209977"/>
            <a:ext cx="2197740" cy="209947"/>
          </a:xfrm>
          <a:prstGeom prst="rect">
            <a:avLst/>
          </a:prstGeom>
          <a:noFill/>
          <a:ln/>
        </p:spPr>
        <p:txBody>
          <a:bodyPr wrap="none" lIns="0" tIns="0" rIns="0" bIns="0" rtlCol="0" anchor="t"/>
          <a:lstStyle/>
          <a:p>
            <a:pPr algn="l" indent="0" marL="0">
              <a:lnSpc>
                <a:spcPct val="104000"/>
              </a:lnSpc>
              <a:buNone/>
            </a:pPr>
            <a:r>
              <a:rPr lang="en-US" sz="1300" dirty="0">
                <a:solidFill>
                  <a:srgbClr val="3C3939"/>
                </a:solidFill>
                <a:latin typeface="Raleway" pitchFamily="34" charset="0"/>
                <a:ea typeface="Raleway" pitchFamily="34" charset="-122"/>
                <a:cs typeface="Raleway" pitchFamily="34" charset="-120"/>
              </a:rPr>
              <a:t>Tuesday: $270,644.00</a:t>
            </a:r>
            <a:endParaRPr lang="en-US" sz="1300" dirty="0"/>
          </a:p>
        </p:txBody>
      </p:sp>
      <p:sp>
        <p:nvSpPr>
          <p:cNvPr id="17" name="Text 10"/>
          <p:cNvSpPr/>
          <p:nvPr/>
        </p:nvSpPr>
        <p:spPr>
          <a:xfrm>
            <a:off x="9185442" y="5529064"/>
            <a:ext cx="2197740"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C3939"/>
                </a:solidFill>
                <a:latin typeface="Roboto" pitchFamily="34" charset="0"/>
                <a:ea typeface="Roboto" pitchFamily="34" charset="-122"/>
                <a:cs typeface="Roboto" pitchFamily="34" charset="-120"/>
              </a:rPr>
              <a:t>Lowest-revenue day — primary target for mid-week promotional activity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04428"/>
            <a:ext cx="10868745" cy="444103"/>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Recommendations</a:t>
            </a:r>
            <a:endParaRPr lang="en-US" sz="2750" dirty="0"/>
          </a:p>
        </p:txBody>
      </p:sp>
      <p:sp>
        <p:nvSpPr>
          <p:cNvPr id="3" name="Text 1"/>
          <p:cNvSpPr/>
          <p:nvPr/>
        </p:nvSpPr>
        <p:spPr>
          <a:xfrm>
            <a:off x="661475" y="1192808"/>
            <a:ext cx="11478330" cy="211435"/>
          </a:xfrm>
          <a:prstGeom prst="rect">
            <a:avLst/>
          </a:prstGeom>
          <a:noFill/>
          <a:ln/>
        </p:spPr>
        <p:txBody>
          <a:bodyPr wrap="none" lIns="0" tIns="0" rIns="0" bIns="0" rtlCol="0" anchor="t"/>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Based on the transaction analysis, five strategic recommendations are identified to improve category revenue, customer retention, and operational efficiency.</a:t>
            </a:r>
            <a:endParaRPr lang="en-US" sz="1100" dirty="0"/>
          </a:p>
        </p:txBody>
      </p:sp>
      <p:sp>
        <p:nvSpPr>
          <p:cNvPr id="4" name="Shape 2"/>
          <p:cNvSpPr/>
          <p:nvPr/>
        </p:nvSpPr>
        <p:spPr>
          <a:xfrm>
            <a:off x="661475" y="1541562"/>
            <a:ext cx="319774" cy="319782"/>
          </a:xfrm>
          <a:prstGeom prst="roundRect">
            <a:avLst>
              <a:gd name="adj" fmla="val 18668"/>
            </a:avLst>
          </a:prstGeom>
          <a:solidFill>
            <a:srgbClr val="E1E1EA"/>
          </a:solidFill>
          <a:ln w="6350">
            <a:solidFill>
              <a:srgbClr val="C7C7D0"/>
            </a:solidFill>
            <a:prstDash val="solid"/>
          </a:ln>
        </p:spPr>
      </p:sp>
      <p:sp>
        <p:nvSpPr>
          <p:cNvPr id="5" name="Text 3"/>
          <p:cNvSpPr/>
          <p:nvPr/>
        </p:nvSpPr>
        <p:spPr>
          <a:xfrm>
            <a:off x="714754" y="1568152"/>
            <a:ext cx="213117" cy="266502"/>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1</a:t>
            </a:r>
            <a:endParaRPr lang="en-US" sz="1650" dirty="0"/>
          </a:p>
        </p:txBody>
      </p:sp>
      <p:sp>
        <p:nvSpPr>
          <p:cNvPr id="6" name="Text 4"/>
          <p:cNvSpPr/>
          <p:nvPr/>
        </p:nvSpPr>
        <p:spPr>
          <a:xfrm>
            <a:off x="1103384" y="1590377"/>
            <a:ext cx="10426836"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Target Weak Sales Periods</a:t>
            </a:r>
            <a:endParaRPr lang="en-US" sz="1350" dirty="0"/>
          </a:p>
        </p:txBody>
      </p:sp>
      <p:sp>
        <p:nvSpPr>
          <p:cNvPr id="7" name="Text 5"/>
          <p:cNvSpPr/>
          <p:nvPr/>
        </p:nvSpPr>
        <p:spPr>
          <a:xfrm>
            <a:off x="1103384" y="1885652"/>
            <a:ext cx="10426836"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Deploy targeted promotions during </a:t>
            </a:r>
            <a:pPr algn="l" indent="0" marL="0">
              <a:lnSpc>
                <a:spcPct val="124000"/>
              </a:lnSpc>
              <a:buNone/>
            </a:pPr>
            <a:r>
              <a:rPr lang="en-US" sz="1100" b="1" dirty="0">
                <a:solidFill>
                  <a:srgbClr val="3C3939"/>
                </a:solidFill>
                <a:latin typeface="Roboto Bold" pitchFamily="34" charset="0"/>
                <a:ea typeface="Roboto Bold" pitchFamily="34" charset="-122"/>
                <a:cs typeface="Roboto Bold" pitchFamily="34" charset="-120"/>
              </a:rPr>
              <a:t>February</a:t>
            </a:r>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 and </a:t>
            </a:r>
            <a:pPr algn="l" indent="0" marL="0">
              <a:lnSpc>
                <a:spcPct val="124000"/>
              </a:lnSpc>
              <a:buNone/>
            </a:pPr>
            <a:r>
              <a:rPr lang="en-US" sz="1100" b="1" dirty="0">
                <a:solidFill>
                  <a:srgbClr val="3C3939"/>
                </a:solidFill>
                <a:latin typeface="Roboto Bold" pitchFamily="34" charset="0"/>
                <a:ea typeface="Roboto Bold" pitchFamily="34" charset="-122"/>
                <a:cs typeface="Roboto Bold" pitchFamily="34" charset="-120"/>
              </a:rPr>
              <a:t>Tuesday</a:t>
            </a:r>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 — the weakest month and day respectively. Tactics should include multi-buy offers, limited-time discounts, bundle promotions, and loyalty-card exclusive offers to stimulate demand during identified low-traffic periods.</a:t>
            </a:r>
            <a:endParaRPr lang="en-US" sz="1100" dirty="0"/>
          </a:p>
        </p:txBody>
      </p:sp>
      <p:sp>
        <p:nvSpPr>
          <p:cNvPr id="8" name="Shape 6"/>
          <p:cNvSpPr/>
          <p:nvPr/>
        </p:nvSpPr>
        <p:spPr>
          <a:xfrm>
            <a:off x="661475" y="2552799"/>
            <a:ext cx="319774" cy="319782"/>
          </a:xfrm>
          <a:prstGeom prst="roundRect">
            <a:avLst>
              <a:gd name="adj" fmla="val 18668"/>
            </a:avLst>
          </a:prstGeom>
          <a:solidFill>
            <a:srgbClr val="E1E1EA"/>
          </a:solidFill>
          <a:ln w="6350">
            <a:solidFill>
              <a:srgbClr val="C7C7D0"/>
            </a:solidFill>
            <a:prstDash val="solid"/>
          </a:ln>
        </p:spPr>
      </p:sp>
      <p:sp>
        <p:nvSpPr>
          <p:cNvPr id="9" name="Text 7"/>
          <p:cNvSpPr/>
          <p:nvPr/>
        </p:nvSpPr>
        <p:spPr>
          <a:xfrm>
            <a:off x="714754" y="2579390"/>
            <a:ext cx="213117" cy="266502"/>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2</a:t>
            </a:r>
            <a:endParaRPr lang="en-US" sz="1650" dirty="0"/>
          </a:p>
        </p:txBody>
      </p:sp>
      <p:sp>
        <p:nvSpPr>
          <p:cNvPr id="10" name="Text 8"/>
          <p:cNvSpPr/>
          <p:nvPr/>
        </p:nvSpPr>
        <p:spPr>
          <a:xfrm>
            <a:off x="1103384" y="2601615"/>
            <a:ext cx="10426836"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Prioritize 175g Products</a:t>
            </a:r>
            <a:endParaRPr lang="en-US" sz="1350" dirty="0"/>
          </a:p>
        </p:txBody>
      </p:sp>
      <p:sp>
        <p:nvSpPr>
          <p:cNvPr id="11" name="Text 9"/>
          <p:cNvSpPr/>
          <p:nvPr/>
        </p:nvSpPr>
        <p:spPr>
          <a:xfrm>
            <a:off x="1103384" y="2896890"/>
            <a:ext cx="10426836"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The 175g pack size generated </a:t>
            </a:r>
            <a:pPr algn="l" indent="0" marL="0">
              <a:lnSpc>
                <a:spcPct val="124000"/>
              </a:lnSpc>
              <a:buNone/>
            </a:pPr>
            <a:r>
              <a:rPr lang="en-US" sz="1100" b="1" dirty="0">
                <a:solidFill>
                  <a:srgbClr val="3C3939"/>
                </a:solidFill>
                <a:latin typeface="Roboto Bold" pitchFamily="34" charset="0"/>
                <a:ea typeface="Roboto Bold" pitchFamily="34" charset="-122"/>
                <a:cs typeface="Roboto Bold" pitchFamily="34" charset="-120"/>
              </a:rPr>
              <a:t>$477,112.40</a:t>
            </a:r>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 and is the dominant revenue format. Provide stronger shelf placement, enhanced promotional visibility, reliable inventory availability, and bundle opportunities to maximize performance of this critical pack size.</a:t>
            </a:r>
            <a:endParaRPr lang="en-US" sz="1100" dirty="0"/>
          </a:p>
        </p:txBody>
      </p:sp>
      <p:sp>
        <p:nvSpPr>
          <p:cNvPr id="12" name="Shape 10"/>
          <p:cNvSpPr/>
          <p:nvPr/>
        </p:nvSpPr>
        <p:spPr>
          <a:xfrm>
            <a:off x="661475" y="3564037"/>
            <a:ext cx="319774" cy="319782"/>
          </a:xfrm>
          <a:prstGeom prst="roundRect">
            <a:avLst>
              <a:gd name="adj" fmla="val 18668"/>
            </a:avLst>
          </a:prstGeom>
          <a:solidFill>
            <a:srgbClr val="E1E1EA"/>
          </a:solidFill>
          <a:ln w="6350">
            <a:solidFill>
              <a:srgbClr val="C7C7D0"/>
            </a:solidFill>
            <a:prstDash val="solid"/>
          </a:ln>
        </p:spPr>
      </p:sp>
      <p:sp>
        <p:nvSpPr>
          <p:cNvPr id="13" name="Text 11"/>
          <p:cNvSpPr/>
          <p:nvPr/>
        </p:nvSpPr>
        <p:spPr>
          <a:xfrm>
            <a:off x="714754" y="3590627"/>
            <a:ext cx="213117" cy="266502"/>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3</a:t>
            </a:r>
            <a:endParaRPr lang="en-US" sz="1650" dirty="0"/>
          </a:p>
        </p:txBody>
      </p:sp>
      <p:sp>
        <p:nvSpPr>
          <p:cNvPr id="14" name="Text 12"/>
          <p:cNvSpPr/>
          <p:nvPr/>
        </p:nvSpPr>
        <p:spPr>
          <a:xfrm>
            <a:off x="1103384" y="3612852"/>
            <a:ext cx="10426836"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Strengthen Leading Brand Strategy</a:t>
            </a:r>
            <a:endParaRPr lang="en-US" sz="1350" dirty="0"/>
          </a:p>
        </p:txBody>
      </p:sp>
      <p:sp>
        <p:nvSpPr>
          <p:cNvPr id="15" name="Text 13"/>
          <p:cNvSpPr/>
          <p:nvPr/>
        </p:nvSpPr>
        <p:spPr>
          <a:xfrm>
            <a:off x="1103384" y="3908127"/>
            <a:ext cx="10426836"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Maintain strong inventory and promotional support for the </a:t>
            </a:r>
            <a:pPr algn="l" indent="0" marL="0">
              <a:lnSpc>
                <a:spcPct val="124000"/>
              </a:lnSpc>
              <a:buNone/>
            </a:pPr>
            <a:r>
              <a:rPr lang="en-US" sz="1100" b="1" dirty="0">
                <a:solidFill>
                  <a:srgbClr val="3C3939"/>
                </a:solidFill>
                <a:latin typeface="Roboto Bold" pitchFamily="34" charset="0"/>
                <a:ea typeface="Roboto Bold" pitchFamily="34" charset="-122"/>
                <a:cs typeface="Roboto Bold" pitchFamily="34" charset="-120"/>
              </a:rPr>
              <a:t>top five brands</a:t>
            </a:r>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 which collectively drive 55.3% of category revenue. Simultaneously evaluate lower-performing brands for growth opportunities, rationalization, or repositioning to optimize shelf space allocation.</a:t>
            </a:r>
            <a:endParaRPr lang="en-US" sz="1100" dirty="0"/>
          </a:p>
        </p:txBody>
      </p:sp>
      <p:sp>
        <p:nvSpPr>
          <p:cNvPr id="16" name="Shape 14"/>
          <p:cNvSpPr/>
          <p:nvPr/>
        </p:nvSpPr>
        <p:spPr>
          <a:xfrm>
            <a:off x="661475" y="4575274"/>
            <a:ext cx="319774" cy="319782"/>
          </a:xfrm>
          <a:prstGeom prst="roundRect">
            <a:avLst>
              <a:gd name="adj" fmla="val 18668"/>
            </a:avLst>
          </a:prstGeom>
          <a:solidFill>
            <a:srgbClr val="E1E1EA"/>
          </a:solidFill>
          <a:ln w="6350">
            <a:solidFill>
              <a:srgbClr val="C7C7D0"/>
            </a:solidFill>
            <a:prstDash val="solid"/>
          </a:ln>
        </p:spPr>
      </p:sp>
      <p:sp>
        <p:nvSpPr>
          <p:cNvPr id="17" name="Text 15"/>
          <p:cNvSpPr/>
          <p:nvPr/>
        </p:nvSpPr>
        <p:spPr>
          <a:xfrm>
            <a:off x="714754" y="4601865"/>
            <a:ext cx="213117" cy="266502"/>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4</a:t>
            </a:r>
            <a:endParaRPr lang="en-US" sz="1650" dirty="0"/>
          </a:p>
        </p:txBody>
      </p:sp>
      <p:sp>
        <p:nvSpPr>
          <p:cNvPr id="18" name="Text 16"/>
          <p:cNvSpPr/>
          <p:nvPr/>
        </p:nvSpPr>
        <p:spPr>
          <a:xfrm>
            <a:off x="1103384" y="4624090"/>
            <a:ext cx="10426836"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Use Customer Loyalty Data</a:t>
            </a:r>
            <a:endParaRPr lang="en-US" sz="1350" dirty="0"/>
          </a:p>
        </p:txBody>
      </p:sp>
      <p:sp>
        <p:nvSpPr>
          <p:cNvPr id="19" name="Text 17"/>
          <p:cNvSpPr/>
          <p:nvPr/>
        </p:nvSpPr>
        <p:spPr>
          <a:xfrm>
            <a:off x="1103384" y="4919365"/>
            <a:ext cx="10426836"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With a </a:t>
            </a:r>
            <a:pPr algn="l" indent="0" marL="0">
              <a:lnSpc>
                <a:spcPct val="124000"/>
              </a:lnSpc>
              <a:buNone/>
            </a:pPr>
            <a:r>
              <a:rPr lang="en-US" sz="1100" b="1" dirty="0">
                <a:solidFill>
                  <a:srgbClr val="3C3939"/>
                </a:solidFill>
                <a:latin typeface="Roboto Bold" pitchFamily="34" charset="0"/>
                <a:ea typeface="Roboto Bold" pitchFamily="34" charset="-122"/>
                <a:cs typeface="Roboto Bold" pitchFamily="34" charset="-120"/>
              </a:rPr>
              <a:t>73.7% repeat-customer rate</a:t>
            </a:r>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 the loyalty card dataset provides a rich foundation for personalized offers, repeat-purchase campaigns, cross-selling opportunities, customer-specific promotions, and structured loyalty rewards to increase lifetime value.</a:t>
            </a:r>
            <a:endParaRPr lang="en-US" sz="1100" dirty="0"/>
          </a:p>
        </p:txBody>
      </p:sp>
      <p:sp>
        <p:nvSpPr>
          <p:cNvPr id="20" name="Shape 18"/>
          <p:cNvSpPr/>
          <p:nvPr/>
        </p:nvSpPr>
        <p:spPr>
          <a:xfrm>
            <a:off x="661475" y="5586512"/>
            <a:ext cx="319774" cy="319782"/>
          </a:xfrm>
          <a:prstGeom prst="roundRect">
            <a:avLst>
              <a:gd name="adj" fmla="val 18668"/>
            </a:avLst>
          </a:prstGeom>
          <a:solidFill>
            <a:srgbClr val="E1E1EA"/>
          </a:solidFill>
          <a:ln w="6350">
            <a:solidFill>
              <a:srgbClr val="C7C7D0"/>
            </a:solidFill>
            <a:prstDash val="solid"/>
          </a:ln>
        </p:spPr>
      </p:sp>
      <p:sp>
        <p:nvSpPr>
          <p:cNvPr id="21" name="Text 19"/>
          <p:cNvSpPr/>
          <p:nvPr/>
        </p:nvSpPr>
        <p:spPr>
          <a:xfrm>
            <a:off x="714754" y="5613102"/>
            <a:ext cx="213117" cy="266502"/>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5</a:t>
            </a:r>
            <a:endParaRPr lang="en-US" sz="1650" dirty="0"/>
          </a:p>
        </p:txBody>
      </p:sp>
      <p:sp>
        <p:nvSpPr>
          <p:cNvPr id="22" name="Text 20"/>
          <p:cNvSpPr/>
          <p:nvPr/>
        </p:nvSpPr>
        <p:spPr>
          <a:xfrm>
            <a:off x="1103384" y="5635327"/>
            <a:ext cx="10426836"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Investigate High-Volume Customer Activity</a:t>
            </a:r>
            <a:endParaRPr lang="en-US" sz="1350" dirty="0"/>
          </a:p>
        </p:txBody>
      </p:sp>
      <p:sp>
        <p:nvSpPr>
          <p:cNvPr id="23" name="Text 21"/>
          <p:cNvSpPr/>
          <p:nvPr/>
        </p:nvSpPr>
        <p:spPr>
          <a:xfrm>
            <a:off x="1103384" y="5930602"/>
            <a:ext cx="10426836" cy="422870"/>
          </a:xfrm>
          <a:prstGeom prst="rect">
            <a:avLst/>
          </a:prstGeom>
          <a:noFill/>
          <a:ln/>
        </p:spPr>
        <p:txBody>
          <a:bodyPr wrap="square" lIns="0" tIns="0" rIns="0" bIns="0" rtlCol="0" anchor="t">
            <a:normAutofit/>
          </a:bodyPr>
          <a:lstStyle/>
          <a:p>
            <a:pPr algn="l" indent="0" marL="0">
              <a:lnSpc>
                <a:spcPct val="124000"/>
              </a:lnSpc>
              <a:buNone/>
            </a:pPr>
            <a:r>
              <a:rPr lang="en-US" sz="1100" b="1" dirty="0">
                <a:solidFill>
                  <a:srgbClr val="3C3939"/>
                </a:solidFill>
                <a:latin typeface="Roboto Bold" pitchFamily="34" charset="0"/>
                <a:ea typeface="Roboto Bold" pitchFamily="34" charset="-122"/>
                <a:cs typeface="Roboto Bold" pitchFamily="34" charset="-120"/>
              </a:rPr>
              <a:t>Customer 226000</a:t>
            </a:r>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 recorded 400 units across only 2 transactions — an anomalous pattern that warrants investigation to determine whether this represents legitimate bulk purchasing behavior or a data-quality issue requiring correction before further analysis.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59184"/>
            <a:ext cx="10868745" cy="363339"/>
          </a:xfrm>
          <a:prstGeom prst="rect">
            <a:avLst/>
          </a:prstGeom>
          <a:noFill/>
          <a:ln/>
        </p:spPr>
        <p:txBody>
          <a:bodyPr wrap="none" lIns="0" tIns="0" rIns="0" bIns="0" rtlCol="0" anchor="t"/>
          <a:lstStyle/>
          <a:p>
            <a:pPr algn="l" indent="0" marL="0">
              <a:lnSpc>
                <a:spcPct val="104000"/>
              </a:lnSpc>
              <a:buNone/>
            </a:pPr>
            <a:r>
              <a:rPr lang="en-US" sz="2250" dirty="0">
                <a:solidFill>
                  <a:srgbClr val="1B1B27"/>
                </a:solidFill>
                <a:latin typeface="Raleway" pitchFamily="34" charset="0"/>
                <a:ea typeface="Raleway" pitchFamily="34" charset="-122"/>
                <a:cs typeface="Raleway" pitchFamily="34" charset="-120"/>
              </a:rPr>
              <a:t>Key Findings &amp; Conclusion</a:t>
            </a:r>
            <a:endParaRPr lang="en-US" sz="2250" dirty="0"/>
          </a:p>
        </p:txBody>
      </p:sp>
      <p:sp>
        <p:nvSpPr>
          <p:cNvPr id="3" name="Shape 1"/>
          <p:cNvSpPr/>
          <p:nvPr/>
        </p:nvSpPr>
        <p:spPr>
          <a:xfrm>
            <a:off x="577836" y="945158"/>
            <a:ext cx="5459871" cy="5453559"/>
          </a:xfrm>
          <a:prstGeom prst="roundRect">
            <a:avLst>
              <a:gd name="adj" fmla="val 1535"/>
            </a:avLst>
          </a:prstGeom>
          <a:solidFill>
            <a:srgbClr val="1B1B27">
              <a:alpha val="95000"/>
            </a:srgbClr>
          </a:solidFill>
          <a:ln/>
        </p:spPr>
      </p:sp>
      <p:sp>
        <p:nvSpPr>
          <p:cNvPr id="4" name="Text 2"/>
          <p:cNvSpPr/>
          <p:nvPr/>
        </p:nvSpPr>
        <p:spPr>
          <a:xfrm>
            <a:off x="694117" y="1026914"/>
            <a:ext cx="5227308" cy="181670"/>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Raleway" pitchFamily="34" charset="0"/>
                <a:ea typeface="Raleway" pitchFamily="34" charset="-122"/>
                <a:cs typeface="Raleway" pitchFamily="34" charset="-120"/>
              </a:rPr>
              <a:t>Key Findings</a:t>
            </a:r>
            <a:endParaRPr lang="en-US" sz="1100" dirty="0"/>
          </a:p>
        </p:txBody>
      </p:sp>
      <p:sp>
        <p:nvSpPr>
          <p:cNvPr id="5" name="Text 3"/>
          <p:cNvSpPr/>
          <p:nvPr/>
        </p:nvSpPr>
        <p:spPr>
          <a:xfrm>
            <a:off x="694117" y="1300559"/>
            <a:ext cx="232563" cy="145355"/>
          </a:xfrm>
          <a:prstGeom prst="rect">
            <a:avLst/>
          </a:prstGeom>
          <a:noFill/>
          <a:ln/>
        </p:spPr>
        <p:txBody>
          <a:bodyPr wrap="none" lIns="0" tIns="0" rIns="0" bIns="0" rtlCol="0" anchor="ctr"/>
          <a:lstStyle/>
          <a:p>
            <a:pPr algn="l" indent="0" marL="0">
              <a:lnSpc>
                <a:spcPct val="100000"/>
              </a:lnSpc>
              <a:buNone/>
            </a:pPr>
            <a:r>
              <a:rPr lang="en-US" sz="900" dirty="0">
                <a:solidFill>
                  <a:srgbClr val="FFFFFF"/>
                </a:solidFill>
                <a:latin typeface="Raleway Light" pitchFamily="34" charset="0"/>
                <a:ea typeface="Raleway Light" pitchFamily="34" charset="-122"/>
                <a:cs typeface="Raleway Light" pitchFamily="34" charset="-120"/>
              </a:rPr>
              <a:t>01</a:t>
            </a:r>
            <a:endParaRPr lang="en-US" sz="900" dirty="0"/>
          </a:p>
        </p:txBody>
      </p:sp>
      <p:sp>
        <p:nvSpPr>
          <p:cNvPr id="6" name="Shape 4"/>
          <p:cNvSpPr/>
          <p:nvPr/>
        </p:nvSpPr>
        <p:spPr>
          <a:xfrm>
            <a:off x="694117" y="1485503"/>
            <a:ext cx="5227308" cy="12700"/>
          </a:xfrm>
          <a:prstGeom prst="rect">
            <a:avLst/>
          </a:prstGeom>
          <a:solidFill>
            <a:srgbClr val="1B1B27"/>
          </a:solidFill>
          <a:ln/>
        </p:spPr>
      </p:sp>
      <p:sp>
        <p:nvSpPr>
          <p:cNvPr id="7" name="Text 5"/>
          <p:cNvSpPr/>
          <p:nvPr/>
        </p:nvSpPr>
        <p:spPr>
          <a:xfrm>
            <a:off x="694117" y="1569045"/>
            <a:ext cx="5227308" cy="181670"/>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Raleway" pitchFamily="34" charset="0"/>
                <a:ea typeface="Raleway" pitchFamily="34" charset="-122"/>
                <a:cs typeface="Raleway" pitchFamily="34" charset="-120"/>
              </a:rPr>
              <a:t>Stable but Seasonal Revenue</a:t>
            </a:r>
            <a:endParaRPr lang="en-US" sz="1100" dirty="0"/>
          </a:p>
        </p:txBody>
      </p:sp>
      <p:sp>
        <p:nvSpPr>
          <p:cNvPr id="8" name="Text 6"/>
          <p:cNvSpPr/>
          <p:nvPr/>
        </p:nvSpPr>
        <p:spPr>
          <a:xfrm>
            <a:off x="694117" y="1832471"/>
            <a:ext cx="5227308" cy="316706"/>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FFFFFF"/>
                </a:solidFill>
                <a:latin typeface="Roboto" pitchFamily="34" charset="0"/>
                <a:ea typeface="Roboto" pitchFamily="34" charset="-122"/>
                <a:cs typeface="Roboto" pitchFamily="34" charset="-120"/>
              </a:rPr>
              <a:t>Total revenue of $1,934,415 was broadly stable across the period, with December 2018 peaking at $167,913 and February 2019 troughing at $150,665.</a:t>
            </a:r>
            <a:endParaRPr lang="en-US" sz="900" dirty="0"/>
          </a:p>
        </p:txBody>
      </p:sp>
      <p:sp>
        <p:nvSpPr>
          <p:cNvPr id="9" name="Text 7"/>
          <p:cNvSpPr/>
          <p:nvPr/>
        </p:nvSpPr>
        <p:spPr>
          <a:xfrm>
            <a:off x="694117" y="2318147"/>
            <a:ext cx="232563" cy="145355"/>
          </a:xfrm>
          <a:prstGeom prst="rect">
            <a:avLst/>
          </a:prstGeom>
          <a:noFill/>
          <a:ln/>
        </p:spPr>
        <p:txBody>
          <a:bodyPr wrap="none" lIns="0" tIns="0" rIns="0" bIns="0" rtlCol="0" anchor="ctr"/>
          <a:lstStyle/>
          <a:p>
            <a:pPr algn="l" indent="0" marL="0">
              <a:lnSpc>
                <a:spcPct val="100000"/>
              </a:lnSpc>
              <a:buNone/>
            </a:pPr>
            <a:r>
              <a:rPr lang="en-US" sz="900" dirty="0">
                <a:solidFill>
                  <a:srgbClr val="FFFFFF"/>
                </a:solidFill>
                <a:latin typeface="Raleway Light" pitchFamily="34" charset="0"/>
                <a:ea typeface="Raleway Light" pitchFamily="34" charset="-122"/>
                <a:cs typeface="Raleway Light" pitchFamily="34" charset="-120"/>
              </a:rPr>
              <a:t>02</a:t>
            </a:r>
            <a:endParaRPr lang="en-US" sz="900" dirty="0"/>
          </a:p>
        </p:txBody>
      </p:sp>
      <p:sp>
        <p:nvSpPr>
          <p:cNvPr id="10" name="Shape 8"/>
          <p:cNvSpPr/>
          <p:nvPr/>
        </p:nvSpPr>
        <p:spPr>
          <a:xfrm>
            <a:off x="694117" y="2503091"/>
            <a:ext cx="5227308" cy="12700"/>
          </a:xfrm>
          <a:prstGeom prst="rect">
            <a:avLst/>
          </a:prstGeom>
          <a:solidFill>
            <a:srgbClr val="1B1B27"/>
          </a:solidFill>
          <a:ln/>
        </p:spPr>
      </p:sp>
      <p:sp>
        <p:nvSpPr>
          <p:cNvPr id="11" name="Text 9"/>
          <p:cNvSpPr/>
          <p:nvPr/>
        </p:nvSpPr>
        <p:spPr>
          <a:xfrm>
            <a:off x="694117" y="2586633"/>
            <a:ext cx="5227308" cy="181670"/>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Raleway" pitchFamily="34" charset="0"/>
                <a:ea typeface="Raleway" pitchFamily="34" charset="-122"/>
                <a:cs typeface="Raleway" pitchFamily="34" charset="-120"/>
              </a:rPr>
              <a:t>Strong Customer Loyalty</a:t>
            </a:r>
            <a:endParaRPr lang="en-US" sz="1100" dirty="0"/>
          </a:p>
        </p:txBody>
      </p:sp>
      <p:sp>
        <p:nvSpPr>
          <p:cNvPr id="12" name="Text 10"/>
          <p:cNvSpPr/>
          <p:nvPr/>
        </p:nvSpPr>
        <p:spPr>
          <a:xfrm>
            <a:off x="694117" y="2850059"/>
            <a:ext cx="5227308" cy="316706"/>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FFFFFF"/>
                </a:solidFill>
                <a:latin typeface="Roboto" pitchFamily="34" charset="0"/>
                <a:ea typeface="Roboto" pitchFamily="34" charset="-122"/>
                <a:cs typeface="Roboto" pitchFamily="34" charset="-120"/>
              </a:rPr>
              <a:t>A 73.7% repeat-customer rate demonstrates high category engagement and provides a strong foundation for loyalty-driven marketing strategies.</a:t>
            </a:r>
            <a:endParaRPr lang="en-US" sz="900" dirty="0"/>
          </a:p>
        </p:txBody>
      </p:sp>
      <p:sp>
        <p:nvSpPr>
          <p:cNvPr id="13" name="Text 11"/>
          <p:cNvSpPr/>
          <p:nvPr/>
        </p:nvSpPr>
        <p:spPr>
          <a:xfrm>
            <a:off x="694117" y="3335734"/>
            <a:ext cx="232563" cy="145355"/>
          </a:xfrm>
          <a:prstGeom prst="rect">
            <a:avLst/>
          </a:prstGeom>
          <a:noFill/>
          <a:ln/>
        </p:spPr>
        <p:txBody>
          <a:bodyPr wrap="none" lIns="0" tIns="0" rIns="0" bIns="0" rtlCol="0" anchor="ctr"/>
          <a:lstStyle/>
          <a:p>
            <a:pPr algn="l" indent="0" marL="0">
              <a:lnSpc>
                <a:spcPct val="100000"/>
              </a:lnSpc>
              <a:buNone/>
            </a:pPr>
            <a:r>
              <a:rPr lang="en-US" sz="900" dirty="0">
                <a:solidFill>
                  <a:srgbClr val="FFFFFF"/>
                </a:solidFill>
                <a:latin typeface="Raleway Light" pitchFamily="34" charset="0"/>
                <a:ea typeface="Raleway Light" pitchFamily="34" charset="-122"/>
                <a:cs typeface="Raleway Light" pitchFamily="34" charset="-120"/>
              </a:rPr>
              <a:t>03</a:t>
            </a:r>
            <a:endParaRPr lang="en-US" sz="900" dirty="0"/>
          </a:p>
        </p:txBody>
      </p:sp>
      <p:sp>
        <p:nvSpPr>
          <p:cNvPr id="14" name="Shape 12"/>
          <p:cNvSpPr/>
          <p:nvPr/>
        </p:nvSpPr>
        <p:spPr>
          <a:xfrm>
            <a:off x="694117" y="3520678"/>
            <a:ext cx="5227308" cy="12700"/>
          </a:xfrm>
          <a:prstGeom prst="rect">
            <a:avLst/>
          </a:prstGeom>
          <a:solidFill>
            <a:srgbClr val="1B1B27"/>
          </a:solidFill>
          <a:ln/>
        </p:spPr>
      </p:sp>
      <p:sp>
        <p:nvSpPr>
          <p:cNvPr id="15" name="Text 13"/>
          <p:cNvSpPr/>
          <p:nvPr/>
        </p:nvSpPr>
        <p:spPr>
          <a:xfrm>
            <a:off x="694117" y="3604220"/>
            <a:ext cx="5227308" cy="181670"/>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Raleway" pitchFamily="34" charset="0"/>
                <a:ea typeface="Raleway" pitchFamily="34" charset="-122"/>
                <a:cs typeface="Raleway" pitchFamily="34" charset="-120"/>
              </a:rPr>
              <a:t>Brand Concentration</a:t>
            </a:r>
            <a:endParaRPr lang="en-US" sz="1100" dirty="0"/>
          </a:p>
        </p:txBody>
      </p:sp>
      <p:sp>
        <p:nvSpPr>
          <p:cNvPr id="16" name="Text 14"/>
          <p:cNvSpPr/>
          <p:nvPr/>
        </p:nvSpPr>
        <p:spPr>
          <a:xfrm>
            <a:off x="694117" y="3867646"/>
            <a:ext cx="5227308" cy="316706"/>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FFFFFF"/>
                </a:solidFill>
                <a:latin typeface="Roboto" pitchFamily="34" charset="0"/>
                <a:ea typeface="Roboto" pitchFamily="34" charset="-122"/>
                <a:cs typeface="Roboto" pitchFamily="34" charset="-120"/>
              </a:rPr>
              <a:t>The top 5 brands account for 55.3% of total revenue, led by Kettle at $390,239.80, while product-level revenue is broadly distributed with no single SKU exceeding 2.1%.</a:t>
            </a:r>
            <a:endParaRPr lang="en-US" sz="900" dirty="0"/>
          </a:p>
        </p:txBody>
      </p:sp>
      <p:sp>
        <p:nvSpPr>
          <p:cNvPr id="17" name="Text 15"/>
          <p:cNvSpPr/>
          <p:nvPr/>
        </p:nvSpPr>
        <p:spPr>
          <a:xfrm>
            <a:off x="694117" y="4353322"/>
            <a:ext cx="232563" cy="145355"/>
          </a:xfrm>
          <a:prstGeom prst="rect">
            <a:avLst/>
          </a:prstGeom>
          <a:noFill/>
          <a:ln/>
        </p:spPr>
        <p:txBody>
          <a:bodyPr wrap="none" lIns="0" tIns="0" rIns="0" bIns="0" rtlCol="0" anchor="ctr"/>
          <a:lstStyle/>
          <a:p>
            <a:pPr algn="l" indent="0" marL="0">
              <a:lnSpc>
                <a:spcPct val="100000"/>
              </a:lnSpc>
              <a:buNone/>
            </a:pPr>
            <a:r>
              <a:rPr lang="en-US" sz="900" dirty="0">
                <a:solidFill>
                  <a:srgbClr val="FFFFFF"/>
                </a:solidFill>
                <a:latin typeface="Raleway Light" pitchFamily="34" charset="0"/>
                <a:ea typeface="Raleway Light" pitchFamily="34" charset="-122"/>
                <a:cs typeface="Raleway Light" pitchFamily="34" charset="-120"/>
              </a:rPr>
              <a:t>04</a:t>
            </a:r>
            <a:endParaRPr lang="en-US" sz="900" dirty="0"/>
          </a:p>
        </p:txBody>
      </p:sp>
      <p:sp>
        <p:nvSpPr>
          <p:cNvPr id="18" name="Shape 16"/>
          <p:cNvSpPr/>
          <p:nvPr/>
        </p:nvSpPr>
        <p:spPr>
          <a:xfrm>
            <a:off x="694117" y="4538266"/>
            <a:ext cx="5227308" cy="12700"/>
          </a:xfrm>
          <a:prstGeom prst="rect">
            <a:avLst/>
          </a:prstGeom>
          <a:solidFill>
            <a:srgbClr val="1B1B27"/>
          </a:solidFill>
          <a:ln/>
        </p:spPr>
      </p:sp>
      <p:sp>
        <p:nvSpPr>
          <p:cNvPr id="19" name="Text 17"/>
          <p:cNvSpPr/>
          <p:nvPr/>
        </p:nvSpPr>
        <p:spPr>
          <a:xfrm>
            <a:off x="694117" y="4621808"/>
            <a:ext cx="5227308" cy="181670"/>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Raleway" pitchFamily="34" charset="0"/>
                <a:ea typeface="Raleway" pitchFamily="34" charset="-122"/>
                <a:cs typeface="Raleway" pitchFamily="34" charset="-120"/>
              </a:rPr>
              <a:t>Large Pack Dominance</a:t>
            </a:r>
            <a:endParaRPr lang="en-US" sz="1100" dirty="0"/>
          </a:p>
        </p:txBody>
      </p:sp>
      <p:sp>
        <p:nvSpPr>
          <p:cNvPr id="20" name="Text 18"/>
          <p:cNvSpPr/>
          <p:nvPr/>
        </p:nvSpPr>
        <p:spPr>
          <a:xfrm>
            <a:off x="694117" y="4885234"/>
            <a:ext cx="5227308" cy="316706"/>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FFFFFF"/>
                </a:solidFill>
                <a:latin typeface="Roboto" pitchFamily="34" charset="0"/>
                <a:ea typeface="Roboto" pitchFamily="34" charset="-122"/>
                <a:cs typeface="Roboto" pitchFamily="34" charset="-120"/>
              </a:rPr>
              <a:t>Products larger than 100g contribute 97.2% of total revenue, with the 175g format alone generating $477,112.40 — the strongest individual pack size.</a:t>
            </a:r>
            <a:endParaRPr lang="en-US" sz="900" dirty="0"/>
          </a:p>
        </p:txBody>
      </p:sp>
      <p:sp>
        <p:nvSpPr>
          <p:cNvPr id="21" name="Text 19"/>
          <p:cNvSpPr/>
          <p:nvPr/>
        </p:nvSpPr>
        <p:spPr>
          <a:xfrm>
            <a:off x="694117" y="5370909"/>
            <a:ext cx="232563" cy="145355"/>
          </a:xfrm>
          <a:prstGeom prst="rect">
            <a:avLst/>
          </a:prstGeom>
          <a:noFill/>
          <a:ln/>
        </p:spPr>
        <p:txBody>
          <a:bodyPr wrap="none" lIns="0" tIns="0" rIns="0" bIns="0" rtlCol="0" anchor="ctr"/>
          <a:lstStyle/>
          <a:p>
            <a:pPr algn="l" indent="0" marL="0">
              <a:lnSpc>
                <a:spcPct val="100000"/>
              </a:lnSpc>
              <a:buNone/>
            </a:pPr>
            <a:r>
              <a:rPr lang="en-US" sz="900" dirty="0">
                <a:solidFill>
                  <a:srgbClr val="FFFFFF"/>
                </a:solidFill>
                <a:latin typeface="Raleway Light" pitchFamily="34" charset="0"/>
                <a:ea typeface="Raleway Light" pitchFamily="34" charset="-122"/>
                <a:cs typeface="Raleway Light" pitchFamily="34" charset="-120"/>
              </a:rPr>
              <a:t>05</a:t>
            </a:r>
            <a:endParaRPr lang="en-US" sz="900" dirty="0"/>
          </a:p>
        </p:txBody>
      </p:sp>
      <p:sp>
        <p:nvSpPr>
          <p:cNvPr id="22" name="Shape 20"/>
          <p:cNvSpPr/>
          <p:nvPr/>
        </p:nvSpPr>
        <p:spPr>
          <a:xfrm>
            <a:off x="694117" y="5555853"/>
            <a:ext cx="5227308" cy="12700"/>
          </a:xfrm>
          <a:prstGeom prst="rect">
            <a:avLst/>
          </a:prstGeom>
          <a:solidFill>
            <a:srgbClr val="1B1B27"/>
          </a:solidFill>
          <a:ln/>
        </p:spPr>
      </p:sp>
      <p:sp>
        <p:nvSpPr>
          <p:cNvPr id="23" name="Text 21"/>
          <p:cNvSpPr/>
          <p:nvPr/>
        </p:nvSpPr>
        <p:spPr>
          <a:xfrm>
            <a:off x="694117" y="5639395"/>
            <a:ext cx="5227308" cy="181670"/>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Raleway" pitchFamily="34" charset="0"/>
                <a:ea typeface="Raleway" pitchFamily="34" charset="-122"/>
                <a:cs typeface="Raleway" pitchFamily="34" charset="-120"/>
              </a:rPr>
              <a:t>Weekend &amp; Sunday Peak</a:t>
            </a:r>
            <a:endParaRPr lang="en-US" sz="1100" dirty="0"/>
          </a:p>
        </p:txBody>
      </p:sp>
      <p:sp>
        <p:nvSpPr>
          <p:cNvPr id="24" name="Text 22"/>
          <p:cNvSpPr/>
          <p:nvPr/>
        </p:nvSpPr>
        <p:spPr>
          <a:xfrm>
            <a:off x="694117" y="5902821"/>
            <a:ext cx="5227308" cy="316706"/>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FFFFFF"/>
                </a:solidFill>
                <a:latin typeface="Roboto" pitchFamily="34" charset="0"/>
                <a:ea typeface="Roboto" pitchFamily="34" charset="-122"/>
                <a:cs typeface="Roboto" pitchFamily="34" charset="-120"/>
              </a:rPr>
              <a:t>Sunday is the highest-revenue day at $283,229.10, with weekends collectively representing 28.9% of total weekly revenue.</a:t>
            </a:r>
            <a:endParaRPr lang="en-US" sz="900" dirty="0"/>
          </a:p>
        </p:txBody>
      </p:sp>
      <p:sp>
        <p:nvSpPr>
          <p:cNvPr id="25" name="Text 23"/>
          <p:cNvSpPr/>
          <p:nvPr/>
        </p:nvSpPr>
        <p:spPr>
          <a:xfrm>
            <a:off x="6243977" y="1026914"/>
            <a:ext cx="5292593" cy="181670"/>
          </a:xfrm>
          <a:prstGeom prst="rect">
            <a:avLst/>
          </a:prstGeom>
          <a:noFill/>
          <a:ln/>
        </p:spPr>
        <p:txBody>
          <a:bodyPr wrap="none" lIns="0" tIns="0" rIns="0" bIns="0" rtlCol="0" anchor="t"/>
          <a:lstStyle/>
          <a:p>
            <a:pPr algn="l" indent="0" marL="0">
              <a:lnSpc>
                <a:spcPct val="104000"/>
              </a:lnSpc>
              <a:buNone/>
            </a:pPr>
            <a:r>
              <a:rPr lang="en-US" sz="1100" dirty="0">
                <a:solidFill>
                  <a:srgbClr val="1B1B27"/>
                </a:solidFill>
                <a:latin typeface="Raleway" pitchFamily="34" charset="0"/>
                <a:ea typeface="Raleway" pitchFamily="34" charset="-122"/>
                <a:cs typeface="Raleway" pitchFamily="34" charset="-120"/>
              </a:rPr>
              <a:t>Conclusion</a:t>
            </a:r>
            <a:endParaRPr lang="en-US" sz="1100" dirty="0"/>
          </a:p>
        </p:txBody>
      </p:sp>
      <p:sp>
        <p:nvSpPr>
          <p:cNvPr id="26" name="Text 24"/>
          <p:cNvSpPr/>
          <p:nvPr/>
        </p:nvSpPr>
        <p:spPr>
          <a:xfrm>
            <a:off x="6243977" y="1290340"/>
            <a:ext cx="5292593" cy="1023640"/>
          </a:xfrm>
          <a:prstGeom prst="rect">
            <a:avLst/>
          </a:prstGeom>
          <a:noFill/>
          <a:ln/>
        </p:spPr>
        <p:txBody>
          <a:bodyPr wrap="square" lIns="0" tIns="0" rIns="0" bIns="0" rtlCol="0" anchor="t">
            <a:normAutofit/>
          </a:bodyPr>
          <a:lstStyle/>
          <a:p>
            <a:pPr algn="l" indent="0" marL="0">
              <a:lnSpc>
                <a:spcPct val="114000"/>
              </a:lnSpc>
              <a:spcAft>
                <a:spcPts val="550"/>
              </a:spcAft>
              <a:buNone/>
            </a:pPr>
            <a:r>
              <a:rPr lang="en-US" sz="900" dirty="0">
                <a:solidFill>
                  <a:srgbClr val="3C3939"/>
                </a:solidFill>
                <a:latin typeface="Roboto" pitchFamily="34" charset="0"/>
                <a:ea typeface="Roboto" pitchFamily="34" charset="-122"/>
                <a:cs typeface="Roboto" pitchFamily="34" charset="-120"/>
              </a:rPr>
              <a:t>The QVI chips category demonstrates a </a:t>
            </a:r>
            <a:pPr algn="l" indent="0" marL="0">
              <a:lnSpc>
                <a:spcPct val="114000"/>
              </a:lnSpc>
              <a:spcAft>
                <a:spcPts val="550"/>
              </a:spcAft>
              <a:buNone/>
            </a:pPr>
            <a:r>
              <a:rPr lang="en-US" sz="900" b="1" dirty="0">
                <a:solidFill>
                  <a:srgbClr val="3C3939"/>
                </a:solidFill>
                <a:latin typeface="Roboto Bold" pitchFamily="34" charset="0"/>
                <a:ea typeface="Roboto Bold" pitchFamily="34" charset="-122"/>
                <a:cs typeface="Roboto Bold" pitchFamily="34" charset="-120"/>
              </a:rPr>
              <a:t>healthy and broadly distributed revenue base</a:t>
            </a:r>
            <a:pPr algn="l" indent="0" marL="0">
              <a:lnSpc>
                <a:spcPct val="114000"/>
              </a:lnSpc>
              <a:spcAft>
                <a:spcPts val="550"/>
              </a:spcAft>
              <a:buNone/>
            </a:pPr>
            <a:r>
              <a:rPr lang="en-US" sz="900" dirty="0">
                <a:solidFill>
                  <a:srgbClr val="3C3939"/>
                </a:solidFill>
                <a:latin typeface="Roboto" pitchFamily="34" charset="0"/>
                <a:ea typeface="Roboto" pitchFamily="34" charset="-122"/>
                <a:cs typeface="Roboto" pitchFamily="34" charset="-120"/>
              </a:rPr>
              <a:t> across 272 stores, 114 products, and over 72,000 customers. The business is not overly dependent on any single product, store, or customer segment, which provides structural resilience.</a:t>
            </a:r>
            <a:endParaRPr lang="en-US" sz="900" dirty="0"/>
          </a:p>
          <a:p>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However, the analysis identifies clear opportunities for </a:t>
            </a:r>
            <a:pPr algn="l" indent="0" marL="0">
              <a:lnSpc>
                <a:spcPct val="114000"/>
              </a:lnSpc>
              <a:buNone/>
            </a:pPr>
            <a:r>
              <a:rPr lang="en-US" sz="900" b="1" dirty="0">
                <a:solidFill>
                  <a:srgbClr val="3C3939"/>
                </a:solidFill>
                <a:latin typeface="Roboto Bold" pitchFamily="34" charset="0"/>
                <a:ea typeface="Roboto Bold" pitchFamily="34" charset="-122"/>
                <a:cs typeface="Roboto Bold" pitchFamily="34" charset="-120"/>
              </a:rPr>
              <a:t>targeted intervention</a:t>
            </a:r>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 addressing weak sales periods in February and on Tuesdays, capitalizing on the dominance of 175g pack sizes, reinforcing the leading brand portfolio, and leveraging the strong loyalty card dataset for personalized marketing.</a:t>
            </a:r>
            <a:endParaRPr lang="en-US" sz="900" dirty="0"/>
          </a:p>
        </p:txBody>
      </p:sp>
      <p:sp>
        <p:nvSpPr>
          <p:cNvPr id="27" name="Shape 25"/>
          <p:cNvSpPr/>
          <p:nvPr/>
        </p:nvSpPr>
        <p:spPr>
          <a:xfrm>
            <a:off x="6243977" y="2405955"/>
            <a:ext cx="2605419" cy="983754"/>
          </a:xfrm>
          <a:prstGeom prst="roundRect">
            <a:avLst>
              <a:gd name="adj" fmla="val 4965"/>
            </a:avLst>
          </a:prstGeom>
          <a:solidFill>
            <a:srgbClr val="E1E1EA"/>
          </a:solidFill>
          <a:ln w="6350">
            <a:solidFill>
              <a:srgbClr val="C7C7D0"/>
            </a:solidFill>
            <a:prstDash val="solid"/>
          </a:ln>
        </p:spPr>
      </p:sp>
      <p:sp>
        <p:nvSpPr>
          <p:cNvPr id="28" name="Text 26"/>
          <p:cNvSpPr/>
          <p:nvPr/>
        </p:nvSpPr>
        <p:spPr>
          <a:xfrm>
            <a:off x="6366609" y="2528590"/>
            <a:ext cx="2360157" cy="181670"/>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Immediate Priority</a:t>
            </a:r>
            <a:endParaRPr lang="en-US" sz="1100" dirty="0"/>
          </a:p>
        </p:txBody>
      </p:sp>
      <p:sp>
        <p:nvSpPr>
          <p:cNvPr id="29" name="Text 27"/>
          <p:cNvSpPr/>
          <p:nvPr/>
        </p:nvSpPr>
        <p:spPr>
          <a:xfrm>
            <a:off x="6366609" y="2792016"/>
            <a:ext cx="2360157" cy="475059"/>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Promotional planning for February and Tuesday weak periods using loyalty-card offers and multi-buy mechanics.</a:t>
            </a:r>
            <a:endParaRPr lang="en-US" sz="900" dirty="0"/>
          </a:p>
        </p:txBody>
      </p:sp>
      <p:sp>
        <p:nvSpPr>
          <p:cNvPr id="30" name="Shape 28"/>
          <p:cNvSpPr/>
          <p:nvPr/>
        </p:nvSpPr>
        <p:spPr>
          <a:xfrm>
            <a:off x="8931151" y="2405955"/>
            <a:ext cx="2605419" cy="983754"/>
          </a:xfrm>
          <a:prstGeom prst="roundRect">
            <a:avLst>
              <a:gd name="adj" fmla="val 4965"/>
            </a:avLst>
          </a:prstGeom>
          <a:solidFill>
            <a:srgbClr val="E1E1EA"/>
          </a:solidFill>
          <a:ln w="6350">
            <a:solidFill>
              <a:srgbClr val="C7C7D0"/>
            </a:solidFill>
            <a:prstDash val="solid"/>
          </a:ln>
        </p:spPr>
      </p:sp>
      <p:sp>
        <p:nvSpPr>
          <p:cNvPr id="31" name="Text 29"/>
          <p:cNvSpPr/>
          <p:nvPr/>
        </p:nvSpPr>
        <p:spPr>
          <a:xfrm>
            <a:off x="9053782" y="2528590"/>
            <a:ext cx="2360157" cy="181670"/>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Strategic Priority</a:t>
            </a:r>
            <a:endParaRPr lang="en-US" sz="1100" dirty="0"/>
          </a:p>
        </p:txBody>
      </p:sp>
      <p:sp>
        <p:nvSpPr>
          <p:cNvPr id="32" name="Text 30"/>
          <p:cNvSpPr/>
          <p:nvPr/>
        </p:nvSpPr>
        <p:spPr>
          <a:xfrm>
            <a:off x="9053782" y="2792016"/>
            <a:ext cx="2360157" cy="475059"/>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Shelf and inventory optimization for 175g products and top-5 brands to protect and grow the 55.3% revenue concentration.</a:t>
            </a:r>
            <a:endParaRPr lang="en-US" sz="900" dirty="0"/>
          </a:p>
        </p:txBody>
      </p:sp>
      <p:sp>
        <p:nvSpPr>
          <p:cNvPr id="33" name="Shape 31"/>
          <p:cNvSpPr/>
          <p:nvPr/>
        </p:nvSpPr>
        <p:spPr>
          <a:xfrm>
            <a:off x="6243977" y="3471466"/>
            <a:ext cx="5292593" cy="825401"/>
          </a:xfrm>
          <a:prstGeom prst="roundRect">
            <a:avLst>
              <a:gd name="adj" fmla="val 5917"/>
            </a:avLst>
          </a:prstGeom>
          <a:solidFill>
            <a:srgbClr val="E1E1EA"/>
          </a:solidFill>
          <a:ln w="6350">
            <a:solidFill>
              <a:srgbClr val="C7C7D0"/>
            </a:solidFill>
            <a:prstDash val="solid"/>
          </a:ln>
        </p:spPr>
      </p:sp>
      <p:sp>
        <p:nvSpPr>
          <p:cNvPr id="34" name="Text 32"/>
          <p:cNvSpPr/>
          <p:nvPr/>
        </p:nvSpPr>
        <p:spPr>
          <a:xfrm>
            <a:off x="6366609" y="3594100"/>
            <a:ext cx="5047330" cy="181670"/>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Data Quality</a:t>
            </a:r>
            <a:endParaRPr lang="en-US" sz="1100" dirty="0"/>
          </a:p>
        </p:txBody>
      </p:sp>
      <p:sp>
        <p:nvSpPr>
          <p:cNvPr id="35" name="Text 33"/>
          <p:cNvSpPr/>
          <p:nvPr/>
        </p:nvSpPr>
        <p:spPr>
          <a:xfrm>
            <a:off x="6366609" y="3857526"/>
            <a:ext cx="5047330" cy="316706"/>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Investigate Customer 226000 anomaly (400 units / 2 transactions) before incorporating loyalty data into campaign targeting.</a:t>
            </a:r>
            <a:endParaRPr lang="en-US" sz="900" dirty="0"/>
          </a:p>
        </p:txBody>
      </p:sp>
      <p:sp>
        <p:nvSpPr>
          <p:cNvPr id="36" name="Text 34"/>
          <p:cNvSpPr/>
          <p:nvPr/>
        </p:nvSpPr>
        <p:spPr>
          <a:xfrm>
            <a:off x="6418400" y="4462363"/>
            <a:ext cx="5118170" cy="475059"/>
          </a:xfrm>
          <a:prstGeom prst="rect">
            <a:avLst/>
          </a:prstGeom>
          <a:noFill/>
          <a:ln/>
        </p:spPr>
        <p:txBody>
          <a:bodyPr wrap="square" lIns="0" tIns="0" rIns="0" bIns="0" rtlCol="0" anchor="t">
            <a:normAutofit/>
          </a:bodyPr>
          <a:lstStyle/>
          <a:p>
            <a:pPr algn="l" indent="0" marL="0">
              <a:lnSpc>
                <a:spcPct val="114000"/>
              </a:lnSpc>
              <a:buNone/>
            </a:pPr>
            <a:r>
              <a:rPr lang="en-US" sz="900" dirty="0">
                <a:solidFill>
                  <a:srgbClr val="3C3939"/>
                </a:solidFill>
                <a:latin typeface="Roboto" pitchFamily="34" charset="0"/>
                <a:ea typeface="Roboto" pitchFamily="34" charset="-122"/>
                <a:cs typeface="Roboto" pitchFamily="34" charset="-120"/>
              </a:rPr>
              <a:t>The combination of a loyal customer base, a resilient multi-brand portfolio, and clear seasonal and format-level patterns positions the QVI chips category well for data-driven growth initiatives in the next planning period.</a:t>
            </a:r>
            <a:endParaRPr lang="en-US" sz="900" dirty="0"/>
          </a:p>
        </p:txBody>
      </p:sp>
      <p:sp>
        <p:nvSpPr>
          <p:cNvPr id="37" name="Shape 35"/>
          <p:cNvSpPr/>
          <p:nvPr/>
        </p:nvSpPr>
        <p:spPr>
          <a:xfrm>
            <a:off x="6243977" y="4388842"/>
            <a:ext cx="12700" cy="622102"/>
          </a:xfrm>
          <a:prstGeom prst="roundRect">
            <a:avLst>
              <a:gd name="adj" fmla="val 49999"/>
            </a:avLst>
          </a:prstGeom>
          <a:solidFill>
            <a:srgbClr val="1B1B27"/>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2026-09-03T14:34:37Z</dcterms:created>
  <dcterms:modified xsi:type="dcterms:W3CDTF">2026-09-03T14:34:37Z</dcterms:modified>
</cp:coreProperties>
</file>